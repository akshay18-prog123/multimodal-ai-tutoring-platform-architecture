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Sir. Today I am presenting SynapseTutor AI, an end-to-end cognitive tutoring platform built for Track D: Personalized Tutoring &amp; Adaptive Learning. Unlike generic LLM wrappers that merely generate text, SynapseTutor integrates true cognitive learner modeling via Bayesian Knowledge Tracing, multi-source ingestion with exact citation anchoring, a cold-start diagnostic baseline test, and local GPU acceleration using Ollama qwen2.5:7b on CUDA.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existing solutions like ChatGPT or generic wrappers fail in university settings for five fundamental reasons: hallucinations without citations, inability to track what students know, cold-start friction, memory amnesia, and unverified quiz questions. SynapseTutor addresses this by grounding knowledge directly to course material, mathematically tracking student mastery via BKT, and utilizing a 3-tier memory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4-layer architecture diagram: Layer 1 is React 19 + TypeScript frontend with KaTeX math rendering and Source Drawer. Layer 2 is our FastAPI backend housing the cognitive algorithms and BKT engine. Layer 3 is the local AI compute running Ollama qwen2.5:7b on NVIDIA CUDA GPU. Layer 4 is hybrid storage pairing SQLite in WAL mode with ChromaDB vector store.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this slide provides an explicit inventory of all models used in SynapseTutor AI. For generation and reasoning, we use local Ollama qwen2.5:7b running on our laptop's NVIDIA RTX GPU via CUDA, with Google Gemini 2.0 Flash as an optional cloud alternative. For vision, we support qwen3-vl:4b and Gemini Vision. For audio, Faster-Whisper extracts timestamped transcripts. For embeddings, we use sentence-transformers/all-MiniLM-L6-v2 with FlashRank cross-encoder reranking. Finally, for student modeling and verification, we employ Bayesian Knowledge Tracing, Scikit-Learn Random Forest and Gradient Boosting Regressors, and SymPy for deterministic symbolic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as shown in the screenshot from our live frontend, the 'Quick Diagnostic Baseline Test' is a critical feature. In educational data mining, the 'cold-start problem' is notorious. Rather than asking a student 20 tedious onboarding questions, our diagnostic test samples fundamental nodes from the course prerequisite graph. In under 2 minutes, it calibrates the student's Bayesian Knowledge Tracing prior, allowing the tutor to tailor subsequent chat explanations and quizzes to their exact cognitive level.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this slide details our cognitive mathematics. We implemented Bayesian Knowledge Tracing with slip, guess, and transition parameters. Unlike naive counters, our BKT engine weights evidence: a formal quiz question counts for 1.0, while a chat response counts for 0.3. We also apply Ebbinghaus forgetting decay when days elapse. On top of BKT, we train a Scikit-Learn Random Forest Classifier to assign students into 'ready for next', 'needs practice', or 'prerequisite gap', and a Gradient Boosting Regressor to forecast required study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academic credibility requires canonical source anchoring. We ingest PDFs using PyMuPDF, slide decks using python-pptx, and lecture videos using Faster-Whisper. Every knowledge chunk carries immutable metadata. When the tutor answers, it outputs clickable citation chips. Clicking a badge opens our frontend Source Viewer Drawer, jumping directly to the exact page, slide, or video timestamp.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grounded RAG in an educational setting cannot simply be dense search. We combine dense embeddings with BM25 lexical keyword search, followed by FlashRank cross-encoder reranking. More importantly, we enforce a strict off-material refusal policy: if a student asks questions not present in the course syllabus, the tutor refuses with 100% accuracy, offering an opt-in toggle if they explicitly want external general knowledge.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for our assessment engine, questions are not picked randomly. We use a 50/30/20 adaptive sampling policy targeting 50% weak concepts, 30% intermediate, and 20% review. Furthermore, we implement self-verification: mathematical questions are passed through Python's SymPy library for symbolic validation, and our novelty checker embeds past questions with MiniLM-L6-v2 to ensure cosine similarity never exceeds 0.85, yielding a 100% novelty pass rate.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our memory system is modeled after cognitive science with three distinct tiers: Short-term memory holds active conversational dialogue. Long-term memory stores relational database mastery profiles and learning styles in SQLite. Episodic memory logs specific breakthrough moments and misconceptions over time, allowing the tutor to reference past learning milestones in future sessions.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during development we resolved several critical engineering challenges: we configured Ollama qwen2.5:7b with local CUDA GPU acceleration on our NVIDIA RTX card. We built resilient try/catch auto-fallbacks so the application never crashes if an AI endpoint is unreachable. We fixed KaTeX LaTeX delimiter rendering in React, and streamlined the user interface into 5 high-impact workspaces.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our evaluation benchmarks run automated scripts verifying our architectural guarantees: 100% off-material refusal accuracy, 100% citation grounding, 100% question novelty rate, and +95% simulated BKT learning gain. Both backend and frontend are live, and we can immediately proceed into the live software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Sir! In summary, SynapseTutor demonstrates that combining cognitive models with modern local LLMs creates a far more reliable, trustworthy, and personalized learning experience. I am now ready to walk you through the live demo and answer any technical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1097280"/>
            <a:ext cx="10728655"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463040"/>
            <a:ext cx="3291840" cy="411480"/>
          </a:xfrm>
          <a:prstGeom prst="roundRect">
            <a:avLst/>
          </a:prstGeom>
          <a:solidFill>
            <a:srgbClr val="0E749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8FAFC"/>
                </a:solidFill>
                <a:latin typeface="Segoe UI"/>
              </a:defRPr>
            </a:pPr>
            <a:r>
              <a:t>⚡ MULTIMODAL AI HACKATHON 2026</a:t>
            </a:r>
          </a:p>
        </p:txBody>
      </p:sp>
      <p:sp>
        <p:nvSpPr>
          <p:cNvPr id="4" name="TextBox 3"/>
          <p:cNvSpPr txBox="1"/>
          <p:nvPr/>
        </p:nvSpPr>
        <p:spPr>
          <a:xfrm>
            <a:off x="1097280" y="2011680"/>
            <a:ext cx="10058400" cy="3474720"/>
          </a:xfrm>
          <a:prstGeom prst="rect">
            <a:avLst/>
          </a:prstGeom>
          <a:noFill/>
        </p:spPr>
        <p:txBody>
          <a:bodyPr wrap="square">
            <a:spAutoFit/>
          </a:bodyPr>
          <a:lstStyle/>
          <a:p>
            <a:pPr>
              <a:spcAft>
                <a:spcPts val="600"/>
              </a:spcAft>
              <a:defRPr sz="4400" b="1">
                <a:solidFill>
                  <a:srgbClr val="F8FAFC"/>
                </a:solidFill>
                <a:latin typeface="Segoe UI"/>
              </a:defRPr>
            </a:pPr>
            <a:r>
              <a:t>SynapseTutor AI</a:t>
            </a:r>
          </a:p>
          <a:p>
            <a:pPr>
              <a:spcAft>
                <a:spcPts val="2000"/>
              </a:spcAft>
              <a:defRPr sz="2200" b="1">
                <a:solidFill>
                  <a:srgbClr val="38BDF8"/>
                </a:solidFill>
                <a:latin typeface="Segoe UI"/>
              </a:defRPr>
            </a:pPr>
            <a:r>
              <a:t>Multimodal Adaptive Tutoring &amp; Cognitive Modeling Platform</a:t>
            </a:r>
          </a:p>
          <a:p>
            <a:pPr>
              <a:spcAft>
                <a:spcPts val="2200"/>
              </a:spcAft>
              <a:defRPr sz="1400">
                <a:solidFill>
                  <a:srgbClr val="E2E8F0"/>
                </a:solidFill>
                <a:latin typeface="Segoe UI"/>
              </a:defRPr>
            </a:pPr>
            <a:r>
              <a:t>Track D: Personalized Tutoring &amp; Adaptive Learning • Internship Technical Presentation</a:t>
            </a:r>
          </a:p>
          <a:p>
            <a:pPr>
              <a:defRPr sz="1300" b="1">
                <a:solidFill>
                  <a:srgbClr val="F59E0B"/>
                </a:solidFill>
                <a:latin typeface="Segoe UI"/>
              </a:defRPr>
            </a:pPr>
            <a:r>
              <a:t>Key Models &amp; Engine: </a:t>
            </a:r>
            <a:r>
              <a:rPr sz="1300">
                <a:solidFill>
                  <a:srgbClr val="E2E8F0"/>
                </a:solidFill>
                <a:latin typeface="Segoe UI"/>
              </a:rPr>
              <a:t>Ollama qwen2.5:7b (CUDA GPU) | MiniLM-L6-v2 | FlashRank | Scikit-Learn ML | Bayesian Knowledge Tracing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The Core Problem in AI-Powered Education</a:t>
            </a:r>
          </a:p>
        </p:txBody>
      </p:sp>
      <p:sp>
        <p:nvSpPr>
          <p:cNvPr id="3" name="Rounded Rectangle 2"/>
          <p:cNvSpPr/>
          <p:nvPr/>
        </p:nvSpPr>
        <p:spPr>
          <a:xfrm>
            <a:off x="731520" y="1554480"/>
            <a:ext cx="512064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572000" cy="4297680"/>
          </a:xfrm>
          <a:prstGeom prst="rect">
            <a:avLst/>
          </a:prstGeom>
          <a:noFill/>
        </p:spPr>
        <p:txBody>
          <a:bodyPr wrap="square">
            <a:spAutoFit/>
          </a:bodyPr>
          <a:lstStyle/>
          <a:p>
            <a:pPr>
              <a:spcAft>
                <a:spcPts val="1400"/>
              </a:spcAft>
              <a:defRPr sz="1800" b="1">
                <a:solidFill>
                  <a:srgbClr val="EF4444"/>
                </a:solidFill>
                <a:latin typeface="Segoe UI"/>
              </a:defRPr>
            </a:pPr>
            <a:r>
              <a:t>Limitations of Generic LLM Tutors</a:t>
            </a:r>
          </a:p>
          <a:p>
            <a:pPr>
              <a:spcAft>
                <a:spcPts val="800"/>
              </a:spcAft>
            </a:pPr>
            <a:r>
              <a:rPr sz="1300" b="1">
                <a:solidFill>
                  <a:srgbClr val="FCA5A5"/>
                </a:solidFill>
                <a:latin typeface="Segoe UI"/>
              </a:rPr>
              <a:t>•  Hallucinations &amp; Ungrounded Answers: </a:t>
            </a:r>
            <a:r>
              <a:rPr sz="1300" b="0">
                <a:solidFill>
                  <a:srgbClr val="E2E8F0"/>
                </a:solidFill>
                <a:latin typeface="Segoe UI"/>
              </a:rPr>
              <a:t>Provide convincing answers that contradict the professor's slides or course syllabus with zero traceability.</a:t>
            </a:r>
          </a:p>
          <a:p>
            <a:pPr>
              <a:spcAft>
                <a:spcPts val="800"/>
              </a:spcAft>
            </a:pPr>
            <a:r>
              <a:rPr sz="1300" b="1">
                <a:solidFill>
                  <a:srgbClr val="FCA5A5"/>
                </a:solidFill>
                <a:latin typeface="Segoe UI"/>
              </a:rPr>
              <a:t>•  One-Size-Fits-All Explanations: </a:t>
            </a:r>
            <a:r>
              <a:rPr sz="1300" b="0">
                <a:solidFill>
                  <a:srgbClr val="E2E8F0"/>
                </a:solidFill>
                <a:latin typeface="Segoe UI"/>
              </a:rPr>
              <a:t>Treat a struggling novice and an advanced learner identically; cannot gauge cognitive readiness.</a:t>
            </a:r>
          </a:p>
          <a:p>
            <a:pPr>
              <a:spcAft>
                <a:spcPts val="800"/>
              </a:spcAft>
            </a:pPr>
            <a:r>
              <a:rPr sz="1300" b="1">
                <a:solidFill>
                  <a:srgbClr val="FCA5A5"/>
                </a:solidFill>
                <a:latin typeface="Segoe UI"/>
              </a:rPr>
              <a:t>•  The Cold-Start Dilemma: </a:t>
            </a:r>
            <a:r>
              <a:rPr sz="1300" b="0">
                <a:solidFill>
                  <a:srgbClr val="E2E8F0"/>
                </a:solidFill>
                <a:latin typeface="Segoe UI"/>
              </a:rPr>
              <a:t>Tutors don't know where the student stands without lengthy interrogation, causing early fatigue.</a:t>
            </a:r>
          </a:p>
          <a:p>
            <a:pPr>
              <a:spcAft>
                <a:spcPts val="800"/>
              </a:spcAft>
            </a:pPr>
            <a:r>
              <a:rPr sz="1300" b="1">
                <a:solidFill>
                  <a:srgbClr val="FCA5A5"/>
                </a:solidFill>
                <a:latin typeface="Segoe UI"/>
              </a:rPr>
              <a:t>•  Memory Amnesia: </a:t>
            </a:r>
            <a:r>
              <a:rPr sz="1300" b="0">
                <a:solidFill>
                  <a:srgbClr val="E2E8F0"/>
                </a:solidFill>
                <a:latin typeface="Segoe UI"/>
              </a:rPr>
              <a:t>Each chat session resets context; past mistakes, misconceptions, and breakthroughs are instantly forgotten.</a:t>
            </a:r>
          </a:p>
          <a:p>
            <a:pPr>
              <a:spcAft>
                <a:spcPts val="800"/>
              </a:spcAft>
            </a:pPr>
            <a:r>
              <a:rPr sz="1300" b="1">
                <a:solidFill>
                  <a:srgbClr val="FCA5A5"/>
                </a:solidFill>
                <a:latin typeface="Segoe UI"/>
              </a:rPr>
              <a:t>•  Trivial Question Generation: </a:t>
            </a:r>
            <a:r>
              <a:rPr sz="1300" b="0">
                <a:solidFill>
                  <a:srgbClr val="E2E8F0"/>
                </a:solidFill>
                <a:latin typeface="Segoe UI"/>
              </a:rPr>
              <a:t>Quizzes repeat identical questions or generate mathematically unverified, incorrect distractors.</a:t>
            </a:r>
          </a:p>
        </p:txBody>
      </p:sp>
      <p:sp>
        <p:nvSpPr>
          <p:cNvPr id="5" name="Rounded Rectangle 4"/>
          <p:cNvSpPr/>
          <p:nvPr/>
        </p:nvSpPr>
        <p:spPr>
          <a:xfrm>
            <a:off x="62179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737360"/>
            <a:ext cx="4663440" cy="4297680"/>
          </a:xfrm>
          <a:prstGeom prst="rect">
            <a:avLst/>
          </a:prstGeom>
          <a:noFill/>
        </p:spPr>
        <p:txBody>
          <a:bodyPr wrap="square">
            <a:spAutoFit/>
          </a:bodyPr>
          <a:lstStyle/>
          <a:p>
            <a:pPr>
              <a:spcAft>
                <a:spcPts val="1400"/>
              </a:spcAft>
              <a:defRPr sz="1800" b="1">
                <a:solidFill>
                  <a:srgbClr val="22C55E"/>
                </a:solidFill>
                <a:latin typeface="Segoe UI"/>
              </a:defRPr>
            </a:pPr>
            <a:r>
              <a:t>SynapseTutor Cognitive Architecture</a:t>
            </a:r>
          </a:p>
          <a:p>
            <a:pPr>
              <a:spcAft>
                <a:spcPts val="800"/>
              </a:spcAft>
            </a:pPr>
            <a:r>
              <a:rPr sz="1300" b="1">
                <a:solidFill>
                  <a:srgbClr val="38BDF8"/>
                </a:solidFill>
                <a:latin typeface="Segoe UI"/>
              </a:rPr>
              <a:t>•  Canonical Source Anchoring: </a:t>
            </a:r>
            <a:r>
              <a:rPr sz="1300" b="0">
                <a:solidFill>
                  <a:srgbClr val="E2E8F0"/>
                </a:solidFill>
                <a:latin typeface="Segoe UI"/>
              </a:rPr>
              <a:t>Strict RAG grounded to exact PDF pages, PPTX slides, and video timestamps with 0% fake citations.</a:t>
            </a:r>
          </a:p>
          <a:p>
            <a:pPr>
              <a:spcAft>
                <a:spcPts val="800"/>
              </a:spcAft>
            </a:pPr>
            <a:r>
              <a:rPr sz="1300" b="1">
                <a:solidFill>
                  <a:srgbClr val="38BDF8"/>
                </a:solidFill>
                <a:latin typeface="Segoe UI"/>
              </a:rPr>
              <a:t>•  Bayesian Knowledge Tracing (BKT): </a:t>
            </a:r>
            <a:r>
              <a:rPr sz="1300" b="0">
                <a:solidFill>
                  <a:srgbClr val="E2E8F0"/>
                </a:solidFill>
                <a:latin typeface="Segoe UI"/>
              </a:rPr>
              <a:t>Mathematical state modeling tracking concept mastery P(L) in real-time with Ebbinghaus forgetting decay.</a:t>
            </a:r>
          </a:p>
          <a:p>
            <a:pPr>
              <a:spcAft>
                <a:spcPts val="800"/>
              </a:spcAft>
            </a:pPr>
            <a:r>
              <a:rPr sz="1300" b="1">
                <a:solidFill>
                  <a:srgbClr val="F59E0B"/>
                </a:solidFill>
                <a:latin typeface="Segoe UI"/>
              </a:rPr>
              <a:t>•  Quick Diagnostic Baseline Test: </a:t>
            </a:r>
            <a:r>
              <a:rPr sz="1300" b="0">
                <a:solidFill>
                  <a:srgbClr val="E2E8F0"/>
                </a:solidFill>
                <a:latin typeface="Segoe UI"/>
              </a:rPr>
              <a:t>Instantly calibrates learner prior mastery on course entry, eliminating cold-start uncertainty.</a:t>
            </a:r>
          </a:p>
          <a:p>
            <a:pPr>
              <a:spcAft>
                <a:spcPts val="800"/>
              </a:spcAft>
            </a:pPr>
            <a:r>
              <a:rPr sz="1300" b="1">
                <a:solidFill>
                  <a:srgbClr val="38BDF8"/>
                </a:solidFill>
                <a:latin typeface="Segoe UI"/>
              </a:rPr>
              <a:t>•  3-Tier Cognitive Memory: </a:t>
            </a:r>
            <a:r>
              <a:rPr sz="1300" b="0">
                <a:solidFill>
                  <a:srgbClr val="E2E8F0"/>
                </a:solidFill>
                <a:latin typeface="Segoe UI"/>
              </a:rPr>
              <a:t>Short-term active dialogue turns, Long-term relational mastery, and Episodic breakthrough timeline.</a:t>
            </a:r>
          </a:p>
          <a:p>
            <a:pPr>
              <a:spcAft>
                <a:spcPts val="800"/>
              </a:spcAft>
            </a:pPr>
            <a:r>
              <a:rPr sz="1300" b="1">
                <a:solidFill>
                  <a:srgbClr val="38BDF8"/>
                </a:solidFill>
                <a:latin typeface="Segoe UI"/>
              </a:rPr>
              <a:t>•  Self-Verifying Adaptive Assessments: </a:t>
            </a:r>
            <a:r>
              <a:rPr sz="1300" b="0">
                <a:solidFill>
                  <a:srgbClr val="E2E8F0"/>
                </a:solidFill>
                <a:latin typeface="Segoe UI"/>
              </a:rPr>
              <a:t>SymPy deterministic math verifier and dense cosine novelty checker (0% question repetition).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End-to-End 4-Layer System Architecture</a:t>
            </a:r>
          </a:p>
        </p:txBody>
      </p:sp>
      <p:sp>
        <p:nvSpPr>
          <p:cNvPr id="3" name="Rounded Rectangle 2"/>
          <p:cNvSpPr/>
          <p:nvPr/>
        </p:nvSpPr>
        <p:spPr>
          <a:xfrm>
            <a:off x="731520" y="1554480"/>
            <a:ext cx="25146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37360"/>
            <a:ext cx="2240280" cy="4297680"/>
          </a:xfrm>
          <a:prstGeom prst="rect">
            <a:avLst/>
          </a:prstGeom>
          <a:noFill/>
        </p:spPr>
        <p:txBody>
          <a:bodyPr wrap="square">
            <a:spAutoFit/>
          </a:bodyPr>
          <a:lstStyle/>
          <a:p>
            <a:pPr>
              <a:spcAft>
                <a:spcPts val="1000"/>
              </a:spcAft>
              <a:defRPr sz="1500" b="1">
                <a:solidFill>
                  <a:srgbClr val="38BDF8"/>
                </a:solidFill>
                <a:latin typeface="Segoe UI"/>
              </a:defRPr>
            </a:pPr>
            <a:r>
              <a:t>LAYER 1</a:t>
            </a:r>
            <a:br/>
            <a:r>
              <a:t>Interactive UI</a:t>
            </a:r>
          </a:p>
          <a:p>
            <a:pPr>
              <a:spcAft>
                <a:spcPts val="800"/>
              </a:spcAft>
            </a:pPr>
            <a:r>
              <a:rPr sz="1100" b="1">
                <a:solidFill>
                  <a:srgbClr val="F8FAFC"/>
                </a:solidFill>
                <a:latin typeface="Segoe UI"/>
              </a:rPr>
              <a:t>•  React 19 &amp; Vite: </a:t>
            </a:r>
            <a:r>
              <a:rPr sz="1100" b="0">
                <a:solidFill>
                  <a:srgbClr val="E2E8F0"/>
                </a:solidFill>
                <a:latin typeface="Segoe UI"/>
              </a:rPr>
              <a:t>Blazing-fast modern single-page frontend application.</a:t>
            </a:r>
          </a:p>
          <a:p>
            <a:pPr>
              <a:spcAft>
                <a:spcPts val="800"/>
              </a:spcAft>
            </a:pPr>
            <a:r>
              <a:rPr sz="1100" b="1">
                <a:solidFill>
                  <a:srgbClr val="F8FAFC"/>
                </a:solidFill>
                <a:latin typeface="Segoe UI"/>
              </a:rPr>
              <a:t>•  Tailwind CSS: </a:t>
            </a:r>
            <a:r>
              <a:rPr sz="1100" b="0">
                <a:solidFill>
                  <a:srgbClr val="E2E8F0"/>
                </a:solidFill>
                <a:latin typeface="Segoe UI"/>
              </a:rPr>
              <a:t>Sleek dark-mode glassmorphic user experience.</a:t>
            </a:r>
          </a:p>
          <a:p>
            <a:pPr>
              <a:spcAft>
                <a:spcPts val="800"/>
              </a:spcAft>
            </a:pPr>
            <a:r>
              <a:rPr sz="1100" b="1">
                <a:solidFill>
                  <a:srgbClr val="F8FAFC"/>
                </a:solidFill>
                <a:latin typeface="Segoe UI"/>
              </a:rPr>
              <a:t>•  KaTeX Math Engine: </a:t>
            </a:r>
            <a:r>
              <a:rPr sz="1100" b="0">
                <a:solidFill>
                  <a:srgbClr val="E2E8F0"/>
                </a:solidFill>
                <a:latin typeface="Segoe UI"/>
              </a:rPr>
              <a:t>Renders inline LaTeX equations \(...\) and blocks \[...\].</a:t>
            </a:r>
          </a:p>
          <a:p>
            <a:pPr>
              <a:spcAft>
                <a:spcPts val="800"/>
              </a:spcAft>
            </a:pPr>
            <a:r>
              <a:rPr sz="1100" b="1">
                <a:solidFill>
                  <a:srgbClr val="F8FAFC"/>
                </a:solidFill>
                <a:latin typeface="Segoe UI"/>
              </a:rPr>
              <a:t>•  Source Viewer Drawer: </a:t>
            </a:r>
            <a:r>
              <a:rPr sz="1100" b="0">
                <a:solidFill>
                  <a:srgbClr val="E2E8F0"/>
                </a:solidFill>
                <a:latin typeface="Segoe UI"/>
              </a:rPr>
              <a:t>Slide-over drawer displaying exact source PDF / slide / video.</a:t>
            </a:r>
          </a:p>
          <a:p>
            <a:pPr>
              <a:spcAft>
                <a:spcPts val="800"/>
              </a:spcAft>
            </a:pPr>
            <a:r>
              <a:rPr sz="1100" b="1">
                <a:solidFill>
                  <a:srgbClr val="F8FAFC"/>
                </a:solidFill>
                <a:latin typeface="Segoe UI"/>
              </a:rPr>
              <a:t>•  5 Core Workspaces: </a:t>
            </a:r>
            <a:r>
              <a:rPr sz="1100" b="0">
                <a:solidFill>
                  <a:srgbClr val="E2E8F0"/>
                </a:solidFill>
                <a:latin typeface="Segoe UI"/>
              </a:rPr>
              <a:t>Dashboard, Tutor Chat, Adaptive Tests, Courses, Profile.</a:t>
            </a:r>
          </a:p>
        </p:txBody>
      </p:sp>
      <p:sp>
        <p:nvSpPr>
          <p:cNvPr id="5" name="Rounded Rectangle 4"/>
          <p:cNvSpPr/>
          <p:nvPr/>
        </p:nvSpPr>
        <p:spPr>
          <a:xfrm>
            <a:off x="3465576" y="1554480"/>
            <a:ext cx="25146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2736" y="1737360"/>
            <a:ext cx="2240280" cy="4297680"/>
          </a:xfrm>
          <a:prstGeom prst="rect">
            <a:avLst/>
          </a:prstGeom>
          <a:noFill/>
        </p:spPr>
        <p:txBody>
          <a:bodyPr wrap="square">
            <a:spAutoFit/>
          </a:bodyPr>
          <a:lstStyle/>
          <a:p>
            <a:pPr>
              <a:spcAft>
                <a:spcPts val="1000"/>
              </a:spcAft>
              <a:defRPr sz="1500" b="1">
                <a:solidFill>
                  <a:srgbClr val="F59E0B"/>
                </a:solidFill>
                <a:latin typeface="Segoe UI"/>
              </a:defRPr>
            </a:pPr>
            <a:r>
              <a:t>LAYER 2</a:t>
            </a:r>
            <a:br/>
            <a:r>
              <a:t>Cognitive Engine</a:t>
            </a:r>
          </a:p>
          <a:p>
            <a:pPr>
              <a:spcAft>
                <a:spcPts val="800"/>
              </a:spcAft>
            </a:pPr>
            <a:r>
              <a:rPr sz="1100" b="1">
                <a:solidFill>
                  <a:srgbClr val="F8FAFC"/>
                </a:solidFill>
                <a:latin typeface="Segoe UI"/>
              </a:rPr>
              <a:t>•  FastAPI Orchestrator: </a:t>
            </a:r>
            <a:r>
              <a:rPr sz="1100" b="0">
                <a:solidFill>
                  <a:srgbClr val="E2E8F0"/>
                </a:solidFill>
                <a:latin typeface="Segoe UI"/>
              </a:rPr>
              <a:t>Async Python microservice with typed Pydantic models.</a:t>
            </a:r>
          </a:p>
          <a:p>
            <a:pPr>
              <a:spcAft>
                <a:spcPts val="800"/>
              </a:spcAft>
            </a:pPr>
            <a:r>
              <a:rPr sz="1100" b="1">
                <a:solidFill>
                  <a:srgbClr val="F8FAFC"/>
                </a:solidFill>
                <a:latin typeface="Segoe UI"/>
              </a:rPr>
              <a:t>•  Multimodal Ingest: </a:t>
            </a:r>
            <a:r>
              <a:rPr sz="1100" b="0">
                <a:solidFill>
                  <a:srgbClr val="E2E8F0"/>
                </a:solidFill>
                <a:latin typeface="Segoe UI"/>
              </a:rPr>
              <a:t>PyMuPDF (PDF), python-pptx (Slides), Faster-Whisper (Video).</a:t>
            </a:r>
          </a:p>
          <a:p>
            <a:pPr>
              <a:spcAft>
                <a:spcPts val="800"/>
              </a:spcAft>
            </a:pPr>
            <a:r>
              <a:rPr sz="1100" b="1">
                <a:solidFill>
                  <a:srgbClr val="F8FAFC"/>
                </a:solidFill>
                <a:latin typeface="Segoe UI"/>
              </a:rPr>
              <a:t>•  BKT &amp; Scikit-Learn: </a:t>
            </a:r>
            <a:r>
              <a:rPr sz="1100" b="0">
                <a:solidFill>
                  <a:srgbClr val="E2E8F0"/>
                </a:solidFill>
                <a:latin typeface="Segoe UI"/>
              </a:rPr>
              <a:t>Random Forest classifier &amp; Gradient Boosting regressor.</a:t>
            </a:r>
          </a:p>
          <a:p>
            <a:pPr>
              <a:spcAft>
                <a:spcPts val="800"/>
              </a:spcAft>
            </a:pPr>
            <a:r>
              <a:rPr sz="1100" b="1">
                <a:solidFill>
                  <a:srgbClr val="F8FAFC"/>
                </a:solidFill>
                <a:latin typeface="Segoe UI"/>
              </a:rPr>
              <a:t>•  3-Tier Memory: </a:t>
            </a:r>
            <a:r>
              <a:rPr sz="1100" b="0">
                <a:solidFill>
                  <a:srgbClr val="E2E8F0"/>
                </a:solidFill>
                <a:latin typeface="Segoe UI"/>
              </a:rPr>
              <a:t>Short-term dialog, Long-term DB, Episodic timeline.</a:t>
            </a:r>
          </a:p>
          <a:p>
            <a:pPr>
              <a:spcAft>
                <a:spcPts val="800"/>
              </a:spcAft>
            </a:pPr>
            <a:r>
              <a:rPr sz="1100" b="1">
                <a:solidFill>
                  <a:srgbClr val="F8FAFC"/>
                </a:solidFill>
                <a:latin typeface="Segoe UI"/>
              </a:rPr>
              <a:t>•  Assessment Verifier: </a:t>
            </a:r>
            <a:r>
              <a:rPr sz="1100" b="0">
                <a:solidFill>
                  <a:srgbClr val="E2E8F0"/>
                </a:solidFill>
                <a:latin typeface="Segoe UI"/>
              </a:rPr>
              <a:t>SymPy math solver &amp; cosine novelty checker.</a:t>
            </a:r>
          </a:p>
        </p:txBody>
      </p:sp>
      <p:sp>
        <p:nvSpPr>
          <p:cNvPr id="7" name="Rounded Rectangle 6"/>
          <p:cNvSpPr/>
          <p:nvPr/>
        </p:nvSpPr>
        <p:spPr>
          <a:xfrm>
            <a:off x="6199632" y="1554480"/>
            <a:ext cx="25146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36792" y="1737360"/>
            <a:ext cx="2240280" cy="4297680"/>
          </a:xfrm>
          <a:prstGeom prst="rect">
            <a:avLst/>
          </a:prstGeom>
          <a:noFill/>
        </p:spPr>
        <p:txBody>
          <a:bodyPr wrap="square">
            <a:spAutoFit/>
          </a:bodyPr>
          <a:lstStyle/>
          <a:p>
            <a:pPr>
              <a:spcAft>
                <a:spcPts val="1000"/>
              </a:spcAft>
              <a:defRPr sz="1500" b="1">
                <a:solidFill>
                  <a:srgbClr val="A855F7"/>
                </a:solidFill>
                <a:latin typeface="Segoe UI"/>
              </a:defRPr>
            </a:pPr>
            <a:r>
              <a:t>LAYER 3</a:t>
            </a:r>
            <a:br/>
            <a:r>
              <a:t>AI Compute Layer</a:t>
            </a:r>
          </a:p>
          <a:p>
            <a:pPr>
              <a:spcAft>
                <a:spcPts val="800"/>
              </a:spcAft>
            </a:pPr>
            <a:r>
              <a:rPr sz="1100" b="1">
                <a:solidFill>
                  <a:srgbClr val="F8FAFC"/>
                </a:solidFill>
                <a:latin typeface="Segoe UI"/>
              </a:rPr>
              <a:t>•  Ollama qwen2.5:7b: </a:t>
            </a:r>
            <a:r>
              <a:rPr sz="1100" b="0">
                <a:solidFill>
                  <a:srgbClr val="E2E8F0"/>
                </a:solidFill>
                <a:latin typeface="Segoe UI"/>
              </a:rPr>
              <a:t>Running 7B LLM locally on NVIDIA RTX GPU via CUDA.</a:t>
            </a:r>
          </a:p>
          <a:p>
            <a:pPr>
              <a:spcAft>
                <a:spcPts val="800"/>
              </a:spcAft>
            </a:pPr>
            <a:r>
              <a:rPr sz="1100" b="1">
                <a:solidFill>
                  <a:srgbClr val="F8FAFC"/>
                </a:solidFill>
                <a:latin typeface="Segoe UI"/>
              </a:rPr>
              <a:t>•  all-MiniLM-L6-v2: </a:t>
            </a:r>
            <a:r>
              <a:rPr sz="1100" b="0">
                <a:solidFill>
                  <a:srgbClr val="E2E8F0"/>
                </a:solidFill>
                <a:latin typeface="Segoe UI"/>
              </a:rPr>
              <a:t>Sentence-Transformers 384-d dense embedding model.</a:t>
            </a:r>
          </a:p>
          <a:p>
            <a:pPr>
              <a:spcAft>
                <a:spcPts val="800"/>
              </a:spcAft>
            </a:pPr>
            <a:r>
              <a:rPr sz="1100" b="1">
                <a:solidFill>
                  <a:srgbClr val="F8FAFC"/>
                </a:solidFill>
                <a:latin typeface="Segoe UI"/>
              </a:rPr>
              <a:t>•  FlashRank Reranker: </a:t>
            </a:r>
            <a:r>
              <a:rPr sz="1100" b="0">
                <a:solidFill>
                  <a:srgbClr val="E2E8F0"/>
                </a:solidFill>
                <a:latin typeface="Segoe UI"/>
              </a:rPr>
              <a:t>Cross-encoder scoring for high precision passage selection.</a:t>
            </a:r>
          </a:p>
          <a:p>
            <a:pPr>
              <a:spcAft>
                <a:spcPts val="800"/>
              </a:spcAft>
            </a:pPr>
            <a:r>
              <a:rPr sz="1100" b="1">
                <a:solidFill>
                  <a:srgbClr val="F8FAFC"/>
                </a:solidFill>
                <a:latin typeface="Segoe UI"/>
              </a:rPr>
              <a:t>•  Cloud/Mock Fallback: </a:t>
            </a:r>
            <a:r>
              <a:rPr sz="1100" b="0">
                <a:solidFill>
                  <a:srgbClr val="E2E8F0"/>
                </a:solidFill>
                <a:latin typeface="Segoe UI"/>
              </a:rPr>
              <a:t>Graceful try/catch fallback to Gemini / Mock on offline states.</a:t>
            </a:r>
          </a:p>
          <a:p>
            <a:pPr>
              <a:spcAft>
                <a:spcPts val="800"/>
              </a:spcAft>
            </a:pPr>
            <a:r>
              <a:rPr sz="1100" b="1">
                <a:solidFill>
                  <a:srgbClr val="F8FAFC"/>
                </a:solidFill>
                <a:latin typeface="Segoe UI"/>
              </a:rPr>
              <a:t>•  Zero API Cost: </a:t>
            </a:r>
            <a:r>
              <a:rPr sz="1100" b="0">
                <a:solidFill>
                  <a:srgbClr val="E2E8F0"/>
                </a:solidFill>
                <a:latin typeface="Segoe UI"/>
              </a:rPr>
              <a:t>Runs fully local on hardware without mandatory cloud tokens.</a:t>
            </a:r>
          </a:p>
        </p:txBody>
      </p:sp>
      <p:sp>
        <p:nvSpPr>
          <p:cNvPr id="9" name="Rounded Rectangle 8"/>
          <p:cNvSpPr/>
          <p:nvPr/>
        </p:nvSpPr>
        <p:spPr>
          <a:xfrm>
            <a:off x="8933688" y="1554480"/>
            <a:ext cx="25146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70848" y="1737360"/>
            <a:ext cx="2240280" cy="4297680"/>
          </a:xfrm>
          <a:prstGeom prst="rect">
            <a:avLst/>
          </a:prstGeom>
          <a:noFill/>
        </p:spPr>
        <p:txBody>
          <a:bodyPr wrap="square">
            <a:spAutoFit/>
          </a:bodyPr>
          <a:lstStyle/>
          <a:p>
            <a:pPr>
              <a:spcAft>
                <a:spcPts val="1000"/>
              </a:spcAft>
              <a:defRPr sz="1500" b="1">
                <a:solidFill>
                  <a:srgbClr val="22C55E"/>
                </a:solidFill>
                <a:latin typeface="Segoe UI"/>
              </a:defRPr>
            </a:pPr>
            <a:r>
              <a:t>LAYER 4</a:t>
            </a:r>
            <a:br/>
            <a:r>
              <a:t>Hybrid Storage</a:t>
            </a:r>
          </a:p>
          <a:p>
            <a:pPr>
              <a:spcAft>
                <a:spcPts val="800"/>
              </a:spcAft>
            </a:pPr>
            <a:r>
              <a:rPr sz="1100" b="1">
                <a:solidFill>
                  <a:srgbClr val="F8FAFC"/>
                </a:solidFill>
                <a:latin typeface="Segoe UI"/>
              </a:rPr>
              <a:t>•  SQLite WAL Mode: </a:t>
            </a:r>
            <a:r>
              <a:rPr sz="1100" b="0">
                <a:solidFill>
                  <a:srgbClr val="E2E8F0"/>
                </a:solidFill>
                <a:latin typeface="Segoe UI"/>
              </a:rPr>
              <a:t>Zero-config ACID relational persistence with AsyncSQLAlchemy.</a:t>
            </a:r>
          </a:p>
          <a:p>
            <a:pPr>
              <a:spcAft>
                <a:spcPts val="800"/>
              </a:spcAft>
            </a:pPr>
            <a:r>
              <a:rPr sz="1100" b="1">
                <a:solidFill>
                  <a:srgbClr val="F8FAFC"/>
                </a:solidFill>
                <a:latin typeface="Segoe UI"/>
              </a:rPr>
              <a:t>•  ChromaDB Store: </a:t>
            </a:r>
            <a:r>
              <a:rPr sz="1100" b="0">
                <a:solidFill>
                  <a:srgbClr val="E2E8F0"/>
                </a:solidFill>
                <a:latin typeface="Segoe UI"/>
              </a:rPr>
              <a:t>Persistent embedded vector database for dense chunk search.</a:t>
            </a:r>
          </a:p>
          <a:p>
            <a:pPr>
              <a:spcAft>
                <a:spcPts val="800"/>
              </a:spcAft>
            </a:pPr>
            <a:r>
              <a:rPr sz="1100" b="1">
                <a:solidFill>
                  <a:srgbClr val="F8FAFC"/>
                </a:solidFill>
                <a:latin typeface="Segoe UI"/>
              </a:rPr>
              <a:t>•  Immutable Metadata: </a:t>
            </a:r>
            <a:r>
              <a:rPr sz="1100" b="0">
                <a:solidFill>
                  <a:srgbClr val="E2E8F0"/>
                </a:solidFill>
                <a:latin typeface="Segoe UI"/>
              </a:rPr>
              <a:t>Stores source coordinates (Slide #, Page #, Timestamp).</a:t>
            </a:r>
          </a:p>
          <a:p>
            <a:pPr>
              <a:spcAft>
                <a:spcPts val="800"/>
              </a:spcAft>
            </a:pPr>
            <a:r>
              <a:rPr sz="1100" b="1">
                <a:solidFill>
                  <a:srgbClr val="F8FAFC"/>
                </a:solidFill>
                <a:latin typeface="Segoe UI"/>
              </a:rPr>
              <a:t>•  Episodic Event Logs: </a:t>
            </a:r>
            <a:r>
              <a:rPr sz="1100" b="0">
                <a:solidFill>
                  <a:srgbClr val="E2E8F0"/>
                </a:solidFill>
                <a:latin typeface="Segoe UI"/>
              </a:rPr>
              <a:t>Persistent JSON logs of learner milestones and misconceptions.</a:t>
            </a:r>
          </a:p>
          <a:p>
            <a:pPr>
              <a:spcAft>
                <a:spcPts val="800"/>
              </a:spcAft>
            </a:pPr>
            <a:r>
              <a:rPr sz="1100" b="1">
                <a:solidFill>
                  <a:srgbClr val="F8FAFC"/>
                </a:solidFill>
                <a:latin typeface="Segoe UI"/>
              </a:rPr>
              <a:t>•  Clean Onboarding: </a:t>
            </a:r>
            <a:r>
              <a:rPr sz="1100" b="0">
                <a:solidFill>
                  <a:srgbClr val="E2E8F0"/>
                </a:solidFill>
                <a:latin typeface="Segoe UI"/>
              </a:rPr>
              <a:t>Zero mock seeds; clean initialization for every new user.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COMPREHENSIVE MODEL INVENTORY &amp; RUNTIMES</a:t>
            </a:r>
          </a:p>
          <a:p>
            <a:pPr>
              <a:defRPr sz="2400" b="1">
                <a:solidFill>
                  <a:srgbClr val="F8FAFC"/>
                </a:solidFill>
                <a:latin typeface="Segoe UI"/>
              </a:defRPr>
            </a:pPr>
            <a:r>
              <a:t>AI &amp; Machine Learning Models Used in Platform</a:t>
            </a:r>
          </a:p>
        </p:txBody>
      </p:sp>
      <p:sp>
        <p:nvSpPr>
          <p:cNvPr id="3" name="Rounded Rectangle 2"/>
          <p:cNvSpPr/>
          <p:nvPr/>
        </p:nvSpPr>
        <p:spPr>
          <a:xfrm>
            <a:off x="731520" y="150876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4846320" cy="4389120"/>
          </a:xfrm>
          <a:prstGeom prst="rect">
            <a:avLst/>
          </a:prstGeom>
          <a:noFill/>
        </p:spPr>
        <p:txBody>
          <a:bodyPr wrap="square">
            <a:spAutoFit/>
          </a:bodyPr>
          <a:lstStyle/>
          <a:p>
            <a:pPr>
              <a:spcAft>
                <a:spcPts val="1000"/>
              </a:spcAft>
              <a:defRPr sz="1700" b="1">
                <a:solidFill>
                  <a:srgbClr val="38BDF8"/>
                </a:solidFill>
                <a:latin typeface="Segoe UI"/>
              </a:defRPr>
            </a:pPr>
            <a:r>
              <a:t>Generative LLMs, Vision &amp; Speech Models</a:t>
            </a:r>
          </a:p>
          <a:p>
            <a:pPr>
              <a:spcAft>
                <a:spcPts val="800"/>
              </a:spcAft>
            </a:pPr>
            <a:r>
              <a:rPr sz="1100" b="1">
                <a:solidFill>
                  <a:srgbClr val="38BDF8"/>
                </a:solidFill>
                <a:latin typeface="Segoe UI"/>
              </a:rPr>
              <a:t>•  Ollama qwen2.5:7b (Primary LLM): </a:t>
            </a:r>
            <a:r>
              <a:rPr sz="1100" b="0">
                <a:solidFill>
                  <a:srgbClr val="E2E8F0"/>
                </a:solidFill>
                <a:latin typeface="Segoe UI"/>
              </a:rPr>
              <a:t>7-billion parameter instruct model running locally on NVIDIA GeForce RTX GPU via CUDA. Powers grounded Socratic tutoring, query disambiguation, and question generation with zero external API fees.</a:t>
            </a:r>
          </a:p>
          <a:p>
            <a:pPr>
              <a:spcAft>
                <a:spcPts val="800"/>
              </a:spcAft>
            </a:pPr>
            <a:r>
              <a:rPr sz="1100" b="1">
                <a:solidFill>
                  <a:srgbClr val="38BDF8"/>
                </a:solidFill>
                <a:latin typeface="Segoe UI"/>
              </a:rPr>
              <a:t>•  Google Gemini 2.0 Flash (Cloud LLM): </a:t>
            </a:r>
            <a:r>
              <a:rPr sz="1100" b="0">
                <a:solidFill>
                  <a:srgbClr val="E2E8F0"/>
                </a:solidFill>
                <a:latin typeface="Segoe UI"/>
              </a:rPr>
              <a:t>Integrated via modern google-genai SDK as an alternative high-throughput cloud provider for low-latency synthesis and multimodal reasoning.</a:t>
            </a:r>
          </a:p>
          <a:p>
            <a:pPr>
              <a:spcAft>
                <a:spcPts val="800"/>
              </a:spcAft>
            </a:pPr>
            <a:r>
              <a:rPr sz="1100" b="1">
                <a:solidFill>
                  <a:srgbClr val="A855F7"/>
                </a:solidFill>
                <a:latin typeface="Segoe UI"/>
              </a:rPr>
              <a:t>•  qwen3-vl:4b / Gemini 2.0 Vision: </a:t>
            </a:r>
            <a:r>
              <a:rPr sz="1100" b="0">
                <a:solidFill>
                  <a:srgbClr val="E2E8F0"/>
                </a:solidFill>
                <a:latin typeface="Segoe UI"/>
              </a:rPr>
              <a:t>Multimodal Vision-Language Models used in the visual ingestion pipeline to parse architecture diagrams, flowcharts, tables, and textbook figures into structured JSON.</a:t>
            </a:r>
          </a:p>
          <a:p>
            <a:pPr>
              <a:spcAft>
                <a:spcPts val="800"/>
              </a:spcAft>
            </a:pPr>
            <a:r>
              <a:rPr sz="1100" b="1">
                <a:solidFill>
                  <a:srgbClr val="22C55E"/>
                </a:solidFill>
                <a:latin typeface="Segoe UI"/>
              </a:rPr>
              <a:t>•  Faster-Whisper (OpenAI Whisper): </a:t>
            </a:r>
            <a:r>
              <a:rPr sz="1100" b="0">
                <a:solidFill>
                  <a:srgbClr val="E2E8F0"/>
                </a:solidFill>
                <a:latin typeface="Segoe UI"/>
              </a:rPr>
              <a:t>CTranslate2-accelerated Whisper speech-to-text model (base/small). Ingests lecture MP4/WAV audio and extracts timestamped transcripts (MM:SS) for canonical source anchoring.</a:t>
            </a:r>
          </a:p>
        </p:txBody>
      </p:sp>
      <p:sp>
        <p:nvSpPr>
          <p:cNvPr id="5" name="Rounded Rectangle 4"/>
          <p:cNvSpPr/>
          <p:nvPr/>
        </p:nvSpPr>
        <p:spPr>
          <a:xfrm>
            <a:off x="6245352" y="150876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28232" y="1691640"/>
            <a:ext cx="4846320" cy="4389120"/>
          </a:xfrm>
          <a:prstGeom prst="rect">
            <a:avLst/>
          </a:prstGeom>
          <a:noFill/>
        </p:spPr>
        <p:txBody>
          <a:bodyPr wrap="square">
            <a:spAutoFit/>
          </a:bodyPr>
          <a:lstStyle/>
          <a:p>
            <a:pPr>
              <a:spcAft>
                <a:spcPts val="1000"/>
              </a:spcAft>
              <a:defRPr sz="1700" b="1">
                <a:solidFill>
                  <a:srgbClr val="F59E0B"/>
                </a:solidFill>
                <a:latin typeface="Segoe UI"/>
              </a:defRPr>
            </a:pPr>
            <a:r>
              <a:t>Embeddings, Rerankers, Classical ML &amp; Math</a:t>
            </a:r>
          </a:p>
          <a:p>
            <a:pPr>
              <a:spcAft>
                <a:spcPts val="800"/>
              </a:spcAft>
            </a:pPr>
            <a:r>
              <a:rPr sz="1100" b="1">
                <a:solidFill>
                  <a:srgbClr val="F59E0B"/>
                </a:solidFill>
                <a:latin typeface="Segoe UI"/>
              </a:rPr>
              <a:t>•  all-MiniLM-L6-v2 (Embeddings): </a:t>
            </a:r>
            <a:r>
              <a:rPr sz="1100" b="0">
                <a:solidFill>
                  <a:srgbClr val="E2E8F0"/>
                </a:solidFill>
                <a:latin typeface="Segoe UI"/>
              </a:rPr>
              <a:t>Sentence-Transformers 384-dimensional dense embedding model. Indexes course chunks into ChromaDB for high-speed dense vector similarity search and question novelty cosine checks.</a:t>
            </a:r>
          </a:p>
          <a:p>
            <a:pPr>
              <a:spcAft>
                <a:spcPts val="800"/>
              </a:spcAft>
            </a:pPr>
            <a:r>
              <a:rPr sz="1100" b="1">
                <a:solidFill>
                  <a:srgbClr val="F59E0B"/>
                </a:solidFill>
                <a:latin typeface="Segoe UI"/>
              </a:rPr>
              <a:t>•  FlashRank (ms-marco-TinyBERT): </a:t>
            </a:r>
            <a:r>
              <a:rPr sz="1100" b="0">
                <a:solidFill>
                  <a:srgbClr val="E2E8F0"/>
                </a:solidFill>
                <a:latin typeface="Segoe UI"/>
              </a:rPr>
              <a:t>Lightweight cross-encoder neural reranker that scores query-document pairs to rerank the top hybrid BM25 + dense candidates before LLM prompt injection.</a:t>
            </a:r>
          </a:p>
          <a:p>
            <a:pPr>
              <a:spcAft>
                <a:spcPts val="800"/>
              </a:spcAft>
            </a:pPr>
            <a:r>
              <a:rPr sz="1100" b="1">
                <a:solidFill>
                  <a:srgbClr val="38BDF8"/>
                </a:solidFill>
                <a:latin typeface="Segoe UI"/>
              </a:rPr>
              <a:t>•  Bayesian Knowledge Tracing (BKT): </a:t>
            </a:r>
            <a:r>
              <a:rPr sz="1100" b="0">
                <a:solidFill>
                  <a:srgbClr val="E2E8F0"/>
                </a:solidFill>
                <a:latin typeface="Segoe UI"/>
              </a:rPr>
              <a:t>Probabilistic Hidden Markov cognitive model updating mastery P(L_t) using Slip P(S)=0.10, Guess P(G)=0.20, Learning Transition P(T)=0.15, and Ebbinghaus forgetting decay.</a:t>
            </a:r>
          </a:p>
          <a:p>
            <a:pPr>
              <a:spcAft>
                <a:spcPts val="800"/>
              </a:spcAft>
            </a:pPr>
            <a:r>
              <a:rPr sz="1100" b="1">
                <a:solidFill>
                  <a:srgbClr val="22C55E"/>
                </a:solidFill>
                <a:latin typeface="Segoe UI"/>
              </a:rPr>
              <a:t>•  Scikit-Learn Random Forest Classifier: </a:t>
            </a:r>
            <a:r>
              <a:rPr sz="1100" b="0">
                <a:solidFill>
                  <a:srgbClr val="E2E8F0"/>
                </a:solidFill>
                <a:latin typeface="Segoe UI"/>
              </a:rPr>
              <a:t>100-tree ensemble classifying student pedagogical readiness into ready_for_next, needs_practice, or prerequisite_gap states.</a:t>
            </a:r>
          </a:p>
          <a:p>
            <a:pPr>
              <a:spcAft>
                <a:spcPts val="800"/>
              </a:spcAft>
            </a:pPr>
            <a:r>
              <a:rPr sz="1100" b="1">
                <a:solidFill>
                  <a:srgbClr val="22C55E"/>
                </a:solidFill>
                <a:latin typeface="Segoe UI"/>
              </a:rPr>
              <a:t>•  Scikit-Learn Gradient Boosting Regressor: </a:t>
            </a:r>
            <a:r>
              <a:rPr sz="1100" b="0">
                <a:solidFill>
                  <a:srgbClr val="E2E8F0"/>
                </a:solidFill>
                <a:latin typeface="Segoe UI"/>
              </a:rPr>
              <a:t>Trained regressor predicting expected quiz score and estimated study minutes needed to attain an 80% mastery threshold.</a:t>
            </a:r>
          </a:p>
          <a:p>
            <a:pPr>
              <a:spcAft>
                <a:spcPts val="800"/>
              </a:spcAft>
            </a:pPr>
            <a:r>
              <a:rPr sz="1100" b="1">
                <a:solidFill>
                  <a:srgbClr val="A855F7"/>
                </a:solidFill>
                <a:latin typeface="Segoe UI"/>
              </a:rPr>
              <a:t>•  SymPy Symbolic Mathematics Engine: </a:t>
            </a:r>
            <a:r>
              <a:rPr sz="1100" b="0">
                <a:solidFill>
                  <a:srgbClr val="E2E8F0"/>
                </a:solidFill>
                <a:latin typeface="Segoe UI"/>
              </a:rPr>
              <a:t>Deterministic Computer Algebra System (CAS) that verifies algebraic, arithmetic, and logic answers to guarantee zero hallucinations in generated test questions.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COLD-START COGNITIVE CALIBRATION</a:t>
            </a:r>
          </a:p>
          <a:p>
            <a:pPr>
              <a:defRPr sz="2400" b="1">
                <a:solidFill>
                  <a:srgbClr val="F8FAFC"/>
                </a:solidFill>
                <a:latin typeface="Segoe UI"/>
              </a:defRPr>
            </a:pPr>
            <a:r>
              <a:t>Spotlight Feature: Quick Diagnostic Baseline Test</a:t>
            </a:r>
          </a:p>
        </p:txBody>
      </p:sp>
      <p:sp>
        <p:nvSpPr>
          <p:cNvPr id="3" name="Rounded Rectangle 2"/>
          <p:cNvSpPr/>
          <p:nvPr/>
        </p:nvSpPr>
        <p:spPr>
          <a:xfrm>
            <a:off x="731520" y="1463040"/>
            <a:ext cx="10728655" cy="1051560"/>
          </a:xfrm>
          <a:prstGeom prst="roundRect">
            <a:avLst/>
          </a:prstGeom>
          <a:solidFill>
            <a:srgbClr val="1812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800" b="1">
                <a:solidFill>
                  <a:srgbClr val="F8FAFC"/>
                </a:solidFill>
                <a:latin typeface="Segoe UI"/>
              </a:defRPr>
            </a:pPr>
            <a:r>
              <a:t>✨  Quick Diagnostic Baseline Test</a:t>
            </a:r>
          </a:p>
          <a:p>
            <a:pPr>
              <a:defRPr sz="1300">
                <a:solidFill>
                  <a:srgbClr val="E2E8F0"/>
                </a:solidFill>
                <a:latin typeface="Segoe UI"/>
              </a:defRPr>
            </a:pPr>
            <a:r>
              <a:t>Tests fundamental concepts across the course to quickly establish your current level.</a:t>
            </a:r>
          </a:p>
        </p:txBody>
      </p:sp>
      <p:sp>
        <p:nvSpPr>
          <p:cNvPr id="4" name="Rounded Rectangle 3"/>
          <p:cNvSpPr/>
          <p:nvPr/>
        </p:nvSpPr>
        <p:spPr>
          <a:xfrm>
            <a:off x="731520" y="2743200"/>
            <a:ext cx="342900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26080"/>
            <a:ext cx="3063240" cy="3108960"/>
          </a:xfrm>
          <a:prstGeom prst="rect">
            <a:avLst/>
          </a:prstGeom>
          <a:noFill/>
        </p:spPr>
        <p:txBody>
          <a:bodyPr wrap="square">
            <a:spAutoFit/>
          </a:bodyPr>
          <a:lstStyle/>
          <a:p>
            <a:pPr>
              <a:spcAft>
                <a:spcPts val="1000"/>
              </a:spcAft>
              <a:defRPr sz="1600" b="1">
                <a:solidFill>
                  <a:srgbClr val="38BDF8"/>
                </a:solidFill>
                <a:latin typeface="Segoe UI"/>
              </a:defRPr>
            </a:pPr>
            <a:r>
              <a:t>1. Cold-Start Problem</a:t>
            </a:r>
          </a:p>
          <a:p>
            <a:pPr>
              <a:spcAft>
                <a:spcPts val="800"/>
              </a:spcAft>
            </a:pPr>
            <a:r>
              <a:rPr sz="1200" b="1">
                <a:solidFill>
                  <a:srgbClr val="F8FAFC"/>
                </a:solidFill>
                <a:latin typeface="Segoe UI"/>
              </a:rPr>
              <a:t>•  The Dilemma: </a:t>
            </a:r>
            <a:r>
              <a:rPr sz="1200" b="0">
                <a:solidFill>
                  <a:srgbClr val="E2E8F0"/>
                </a:solidFill>
                <a:latin typeface="Segoe UI"/>
              </a:rPr>
              <a:t>When a new student enters a course, the AI has zero interaction data.</a:t>
            </a:r>
          </a:p>
          <a:p>
            <a:pPr>
              <a:spcAft>
                <a:spcPts val="800"/>
              </a:spcAft>
            </a:pPr>
            <a:r>
              <a:rPr sz="1200" b="1">
                <a:solidFill>
                  <a:srgbClr val="F8FAFC"/>
                </a:solidFill>
                <a:latin typeface="Segoe UI"/>
              </a:rPr>
              <a:t>•  Standard Failure: </a:t>
            </a:r>
            <a:r>
              <a:rPr sz="1200" b="0">
                <a:solidFill>
                  <a:srgbClr val="E2E8F0"/>
                </a:solidFill>
                <a:latin typeface="Segoe UI"/>
              </a:rPr>
              <a:t>Generic tutors start with basic trivia or assume intermediate knowledge, wasting student time.</a:t>
            </a:r>
          </a:p>
          <a:p>
            <a:pPr>
              <a:spcAft>
                <a:spcPts val="800"/>
              </a:spcAft>
            </a:pPr>
            <a:r>
              <a:rPr sz="1200" b="1">
                <a:solidFill>
                  <a:srgbClr val="F8FAFC"/>
                </a:solidFill>
                <a:latin typeface="Segoe UI"/>
              </a:rPr>
              <a:t>•  Synapse Solution: </a:t>
            </a:r>
            <a:r>
              <a:rPr sz="1200" b="0">
                <a:solidFill>
                  <a:srgbClr val="E2E8F0"/>
                </a:solidFill>
                <a:latin typeface="Segoe UI"/>
              </a:rPr>
              <a:t>A streamlined 5-question baseline across foundational syllabus milestones.</a:t>
            </a:r>
          </a:p>
        </p:txBody>
      </p:sp>
      <p:sp>
        <p:nvSpPr>
          <p:cNvPr id="6" name="Rounded Rectangle 5"/>
          <p:cNvSpPr/>
          <p:nvPr/>
        </p:nvSpPr>
        <p:spPr>
          <a:xfrm>
            <a:off x="4379976" y="2743200"/>
            <a:ext cx="342900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2926080"/>
            <a:ext cx="3063240" cy="3108960"/>
          </a:xfrm>
          <a:prstGeom prst="rect">
            <a:avLst/>
          </a:prstGeom>
          <a:noFill/>
        </p:spPr>
        <p:txBody>
          <a:bodyPr wrap="square">
            <a:spAutoFit/>
          </a:bodyPr>
          <a:lstStyle/>
          <a:p>
            <a:pPr>
              <a:spcAft>
                <a:spcPts val="1000"/>
              </a:spcAft>
              <a:defRPr sz="1600" b="1">
                <a:solidFill>
                  <a:srgbClr val="F59E0B"/>
                </a:solidFill>
                <a:latin typeface="Segoe UI"/>
              </a:defRPr>
            </a:pPr>
            <a:r>
              <a:t>2. Adaptive Calibration</a:t>
            </a:r>
          </a:p>
          <a:p>
            <a:pPr>
              <a:spcAft>
                <a:spcPts val="800"/>
              </a:spcAft>
            </a:pPr>
            <a:r>
              <a:rPr sz="1200" b="1">
                <a:solidFill>
                  <a:srgbClr val="F8FAFC"/>
                </a:solidFill>
                <a:latin typeface="Segoe UI"/>
              </a:rPr>
              <a:t>•  Topic Sampling: </a:t>
            </a:r>
            <a:r>
              <a:rPr sz="1200" b="0">
                <a:solidFill>
                  <a:srgbClr val="E2E8F0"/>
                </a:solidFill>
                <a:latin typeface="Segoe UI"/>
              </a:rPr>
              <a:t>Algorithm selects root prerequisite topics from the course prerequisite graph.</a:t>
            </a:r>
          </a:p>
          <a:p>
            <a:pPr>
              <a:spcAft>
                <a:spcPts val="800"/>
              </a:spcAft>
            </a:pPr>
            <a:r>
              <a:rPr sz="1200" b="1">
                <a:solidFill>
                  <a:srgbClr val="F8FAFC"/>
                </a:solidFill>
                <a:latin typeface="Segoe UI"/>
              </a:rPr>
              <a:t>•  Prior P(L0) Tuning: </a:t>
            </a:r>
            <a:r>
              <a:rPr sz="1200" b="0">
                <a:solidFill>
                  <a:srgbClr val="E2E8F0"/>
                </a:solidFill>
                <a:latin typeface="Segoe UI"/>
              </a:rPr>
              <a:t>Correct/incorrect responses adjust initial BKT prior from default 0.15 to student's true entry level.</a:t>
            </a:r>
          </a:p>
          <a:p>
            <a:pPr>
              <a:spcAft>
                <a:spcPts val="800"/>
              </a:spcAft>
            </a:pPr>
            <a:r>
              <a:rPr sz="1200" b="1">
                <a:solidFill>
                  <a:srgbClr val="F8FAFC"/>
                </a:solidFill>
                <a:latin typeface="Segoe UI"/>
              </a:rPr>
              <a:t>•  Instant Baseline: </a:t>
            </a:r>
            <a:r>
              <a:rPr sz="1200" b="0">
                <a:solidFill>
                  <a:srgbClr val="E2E8F0"/>
                </a:solidFill>
                <a:latin typeface="Segoe UI"/>
              </a:rPr>
              <a:t>Generates initial readiness scores across all course chapters in under 2 minutes.</a:t>
            </a:r>
          </a:p>
        </p:txBody>
      </p:sp>
      <p:sp>
        <p:nvSpPr>
          <p:cNvPr id="8" name="Rounded Rectangle 7"/>
          <p:cNvSpPr/>
          <p:nvPr/>
        </p:nvSpPr>
        <p:spPr>
          <a:xfrm>
            <a:off x="8028432" y="2743200"/>
            <a:ext cx="342900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2926080"/>
            <a:ext cx="3063240" cy="3108960"/>
          </a:xfrm>
          <a:prstGeom prst="rect">
            <a:avLst/>
          </a:prstGeom>
          <a:noFill/>
        </p:spPr>
        <p:txBody>
          <a:bodyPr wrap="square">
            <a:spAutoFit/>
          </a:bodyPr>
          <a:lstStyle/>
          <a:p>
            <a:pPr>
              <a:spcAft>
                <a:spcPts val="1000"/>
              </a:spcAft>
              <a:defRPr sz="1600" b="1">
                <a:solidFill>
                  <a:srgbClr val="22C55E"/>
                </a:solidFill>
                <a:latin typeface="Segoe UI"/>
              </a:defRPr>
            </a:pPr>
            <a:r>
              <a:t>3. Downstream Benefits</a:t>
            </a:r>
          </a:p>
          <a:p>
            <a:pPr>
              <a:spcAft>
                <a:spcPts val="800"/>
              </a:spcAft>
            </a:pPr>
            <a:r>
              <a:rPr sz="1200" b="1">
                <a:solidFill>
                  <a:srgbClr val="F8FAFC"/>
                </a:solidFill>
                <a:latin typeface="Segoe UI"/>
              </a:rPr>
              <a:t>•  Personalized Pacing: </a:t>
            </a:r>
            <a:r>
              <a:rPr sz="1200" b="0">
                <a:solidFill>
                  <a:srgbClr val="E2E8F0"/>
                </a:solidFill>
                <a:latin typeface="Segoe UI"/>
              </a:rPr>
              <a:t>Tutor immediately skips mastered basics and focuses directly on conceptual weak zones.</a:t>
            </a:r>
          </a:p>
          <a:p>
            <a:pPr>
              <a:spcAft>
                <a:spcPts val="800"/>
              </a:spcAft>
            </a:pPr>
            <a:r>
              <a:rPr sz="1200" b="1">
                <a:solidFill>
                  <a:srgbClr val="F8FAFC"/>
                </a:solidFill>
                <a:latin typeface="Segoe UI"/>
              </a:rPr>
              <a:t>•  Scikit-Learn Seeding: </a:t>
            </a:r>
            <a:r>
              <a:rPr sz="1200" b="0">
                <a:solidFill>
                  <a:srgbClr val="E2E8F0"/>
                </a:solidFill>
                <a:latin typeface="Segoe UI"/>
              </a:rPr>
              <a:t>Provides feature vectors for Random Forest readiness and Gradient Boosting time regression.</a:t>
            </a:r>
          </a:p>
          <a:p>
            <a:pPr>
              <a:spcAft>
                <a:spcPts val="800"/>
              </a:spcAft>
            </a:pPr>
            <a:r>
              <a:rPr sz="1200" b="1">
                <a:solidFill>
                  <a:srgbClr val="F8FAFC"/>
                </a:solidFill>
                <a:latin typeface="Segoe UI"/>
              </a:rPr>
              <a:t>•  Learner Confidence: </a:t>
            </a:r>
            <a:r>
              <a:rPr sz="1200" b="0">
                <a:solidFill>
                  <a:srgbClr val="E2E8F0"/>
                </a:solidFill>
                <a:latin typeface="Segoe UI"/>
              </a:rPr>
              <a:t>Students receive instant clarity on their exact syllabus standing.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Cognitive Modeling: Bayesian Knowledge Tracing &amp; ML</a:t>
            </a:r>
          </a:p>
        </p:txBody>
      </p:sp>
      <p:sp>
        <p:nvSpPr>
          <p:cNvPr id="3" name="Rounded Rectangle 2"/>
          <p:cNvSpPr/>
          <p:nvPr/>
        </p:nvSpPr>
        <p:spPr>
          <a:xfrm>
            <a:off x="7315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663440" cy="4297680"/>
          </a:xfrm>
          <a:prstGeom prst="rect">
            <a:avLst/>
          </a:prstGeom>
          <a:noFill/>
        </p:spPr>
        <p:txBody>
          <a:bodyPr wrap="square">
            <a:spAutoFit/>
          </a:bodyPr>
          <a:lstStyle/>
          <a:p>
            <a:pPr>
              <a:spcAft>
                <a:spcPts val="1200"/>
              </a:spcAft>
              <a:defRPr sz="1800" b="1">
                <a:solidFill>
                  <a:srgbClr val="38BDF8"/>
                </a:solidFill>
                <a:latin typeface="Segoe UI"/>
              </a:defRPr>
            </a:pPr>
            <a:r>
              <a:t>Bayesian Knowledge Tracing (BKT)</a:t>
            </a:r>
          </a:p>
          <a:p>
            <a:pPr>
              <a:spcAft>
                <a:spcPts val="800"/>
              </a:spcAft>
            </a:pPr>
            <a:r>
              <a:rPr sz="1200" b="1">
                <a:solidFill>
                  <a:srgbClr val="F8FAFC"/>
                </a:solidFill>
                <a:latin typeface="Segoe UI"/>
              </a:rPr>
              <a:t>•  Novice Prior Initialization: </a:t>
            </a:r>
            <a:r>
              <a:rPr sz="1200" b="0">
                <a:solidFill>
                  <a:srgbClr val="E2E8F0"/>
                </a:solidFill>
                <a:latin typeface="Segoe UI"/>
              </a:rPr>
              <a:t>Initializes mastery at P(L0) = 0.15 (or calibrated via Diagnostic Test).</a:t>
            </a:r>
          </a:p>
          <a:p>
            <a:pPr>
              <a:spcAft>
                <a:spcPts val="800"/>
              </a:spcAft>
            </a:pPr>
            <a:r>
              <a:rPr sz="1100" b="1">
                <a:solidFill>
                  <a:srgbClr val="F8FAFC"/>
                </a:solidFill>
                <a:latin typeface="Segoe UI"/>
              </a:rPr>
              <a:t>•  Bayesian Posterior Updating: </a:t>
            </a:r>
            <a:r>
              <a:rPr sz="1100" b="0">
                <a:solidFill>
                  <a:srgbClr val="E2E8F0"/>
                </a:solidFill>
                <a:latin typeface="Segoe UI"/>
              </a:rPr>
              <a:t>Updates mastery given evidence using Slip P(S)=0.10, Guess P(G)=0.20, and Learn Transition P(T)=0.15:
P(L_t | Correct) = [P(L_t) * (1 - P(S))] / [P(L_t)*(1 - P(S)) + (1 - P(L_t))*P(G)]</a:t>
            </a:r>
          </a:p>
          <a:p>
            <a:pPr>
              <a:spcAft>
                <a:spcPts val="800"/>
              </a:spcAft>
            </a:pPr>
            <a:r>
              <a:rPr sz="1200" b="1">
                <a:solidFill>
                  <a:srgbClr val="F8FAFC"/>
                </a:solidFill>
                <a:latin typeface="Segoe UI"/>
              </a:rPr>
              <a:t>•  Evidence Interaction Weighting: </a:t>
            </a:r>
            <a:r>
              <a:rPr sz="1200" b="0">
                <a:solidFill>
                  <a:srgbClr val="E2E8F0"/>
                </a:solidFill>
                <a:latin typeface="Segoe UI"/>
              </a:rPr>
              <a:t>Differentiates signal confidence: Exam Quiz = 1.0, Short Answer = 0.7, Chat Dialogue Turn = 0.3.</a:t>
            </a:r>
          </a:p>
          <a:p>
            <a:pPr>
              <a:spcAft>
                <a:spcPts val="800"/>
              </a:spcAft>
            </a:pPr>
            <a:r>
              <a:rPr sz="1200" b="1">
                <a:solidFill>
                  <a:srgbClr val="F8FAFC"/>
                </a:solidFill>
                <a:latin typeface="Segoe UI"/>
              </a:rPr>
              <a:t>•  Ebbinghaus Forgetting Curve: </a:t>
            </a:r>
            <a:r>
              <a:rPr sz="1200" b="0">
                <a:solidFill>
                  <a:srgbClr val="E2E8F0"/>
                </a:solidFill>
                <a:latin typeface="Segoe UI"/>
              </a:rPr>
              <a:t>Applies exponential half-life decay P(L) = P(L) * e^(-decay * delta_t) over days without practice.</a:t>
            </a:r>
          </a:p>
        </p:txBody>
      </p:sp>
      <p:sp>
        <p:nvSpPr>
          <p:cNvPr id="5" name="Rounded Rectangle 4"/>
          <p:cNvSpPr/>
          <p:nvPr/>
        </p:nvSpPr>
        <p:spPr>
          <a:xfrm>
            <a:off x="62179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737360"/>
            <a:ext cx="4663440" cy="4297680"/>
          </a:xfrm>
          <a:prstGeom prst="rect">
            <a:avLst/>
          </a:prstGeom>
          <a:noFill/>
        </p:spPr>
        <p:txBody>
          <a:bodyPr wrap="square">
            <a:spAutoFit/>
          </a:bodyPr>
          <a:lstStyle/>
          <a:p>
            <a:pPr>
              <a:spcAft>
                <a:spcPts val="1200"/>
              </a:spcAft>
              <a:defRPr sz="1800" b="1">
                <a:solidFill>
                  <a:srgbClr val="F59E0B"/>
                </a:solidFill>
                <a:latin typeface="Segoe UI"/>
              </a:defRPr>
            </a:pPr>
            <a:r>
              <a:t>Scikit-Learn Machine Learning Models</a:t>
            </a:r>
          </a:p>
          <a:p>
            <a:pPr>
              <a:spcAft>
                <a:spcPts val="800"/>
              </a:spcAft>
            </a:pPr>
            <a:r>
              <a:rPr sz="1200" b="1">
                <a:solidFill>
                  <a:srgbClr val="F8FAFC"/>
                </a:solidFill>
                <a:latin typeface="Segoe UI"/>
              </a:rPr>
              <a:t>•  Random Forest Classifier: </a:t>
            </a:r>
            <a:r>
              <a:rPr sz="1200" b="0">
                <a:solidFill>
                  <a:srgbClr val="E2E8F0"/>
                </a:solidFill>
                <a:latin typeface="Segoe UI"/>
              </a:rPr>
              <a:t>Predicts pedagogical readiness state:
• ready_for_next (Mastery &gt;= 0.75 &amp; prerequisites met)
• needs_practice (Mastery between 0.40 and 0.75)
• prerequisite_gap (Foundational dependencies unmastered)</a:t>
            </a:r>
          </a:p>
          <a:p>
            <a:pPr>
              <a:spcAft>
                <a:spcPts val="800"/>
              </a:spcAft>
            </a:pPr>
            <a:r>
              <a:rPr sz="1200" b="1">
                <a:solidFill>
                  <a:srgbClr val="F8FAFC"/>
                </a:solidFill>
                <a:latin typeface="Segoe UI"/>
              </a:rPr>
              <a:t>•  Gradient Boosting Regressor (GBR): </a:t>
            </a:r>
            <a:r>
              <a:rPr sz="1200" b="0">
                <a:solidFill>
                  <a:srgbClr val="E2E8F0"/>
                </a:solidFill>
                <a:latin typeface="Segoe UI"/>
              </a:rPr>
              <a:t>Predicts estimated study minutes required for the student to achieve the 80% mastery target based on historical response accuracy.</a:t>
            </a:r>
          </a:p>
          <a:p>
            <a:pPr>
              <a:spcAft>
                <a:spcPts val="800"/>
              </a:spcAft>
            </a:pPr>
            <a:r>
              <a:rPr sz="1200" b="1">
                <a:solidFill>
                  <a:srgbClr val="F8FAFC"/>
                </a:solidFill>
                <a:latin typeface="Segoe UI"/>
              </a:rPr>
              <a:t>•  Misconception Diagnosis: </a:t>
            </a:r>
            <a:r>
              <a:rPr sz="1200" b="0">
                <a:solidFill>
                  <a:srgbClr val="E2E8F0"/>
                </a:solidFill>
                <a:latin typeface="Segoe UI"/>
              </a:rPr>
              <a:t>Identifies recurring distractor patterns (e.g. Deadlock State vs Unsafe State confusion) and flags them for remediation.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Multimodal Ingestion &amp; Canonical Source Anchoring</a:t>
            </a:r>
          </a:p>
        </p:txBody>
      </p:sp>
      <p:sp>
        <p:nvSpPr>
          <p:cNvPr id="3" name="Rounded Rectangle 2"/>
          <p:cNvSpPr/>
          <p:nvPr/>
        </p:nvSpPr>
        <p:spPr>
          <a:xfrm>
            <a:off x="731520"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3063240" cy="4297680"/>
          </a:xfrm>
          <a:prstGeom prst="rect">
            <a:avLst/>
          </a:prstGeom>
          <a:noFill/>
        </p:spPr>
        <p:txBody>
          <a:bodyPr wrap="square">
            <a:spAutoFit/>
          </a:bodyPr>
          <a:lstStyle/>
          <a:p>
            <a:pPr>
              <a:spcAft>
                <a:spcPts val="1000"/>
              </a:spcAft>
              <a:defRPr sz="1600" b="1">
                <a:solidFill>
                  <a:srgbClr val="38BDF8"/>
                </a:solidFill>
                <a:latin typeface="Segoe UI"/>
              </a:defRPr>
            </a:pPr>
            <a:r>
              <a:t>1. Multimodal Extractors</a:t>
            </a:r>
          </a:p>
          <a:p>
            <a:pPr>
              <a:spcAft>
                <a:spcPts val="800"/>
              </a:spcAft>
            </a:pPr>
            <a:r>
              <a:rPr sz="1100" b="1">
                <a:solidFill>
                  <a:srgbClr val="F8FAFC"/>
                </a:solidFill>
                <a:latin typeface="Segoe UI"/>
              </a:rPr>
              <a:t>•  PDF Textbooks: </a:t>
            </a:r>
            <a:r>
              <a:rPr sz="1100" b="0">
                <a:solidFill>
                  <a:srgbClr val="E2E8F0"/>
                </a:solidFill>
                <a:latin typeface="Segoe UI"/>
              </a:rPr>
              <a:t>PyMuPDF extracts text blocks, markdown tables, LaTeX equations, and bounding boxes.</a:t>
            </a:r>
          </a:p>
          <a:p>
            <a:pPr>
              <a:spcAft>
                <a:spcPts val="800"/>
              </a:spcAft>
            </a:pPr>
            <a:r>
              <a:rPr sz="1100" b="1">
                <a:solidFill>
                  <a:srgbClr val="F8FAFC"/>
                </a:solidFill>
                <a:latin typeface="Segoe UI"/>
              </a:rPr>
              <a:t>•  PowerPoint Slides: </a:t>
            </a:r>
            <a:r>
              <a:rPr sz="1100" b="0">
                <a:solidFill>
                  <a:srgbClr val="E2E8F0"/>
                </a:solidFill>
                <a:latin typeface="Segoe UI"/>
              </a:rPr>
              <a:t>python-pptx extracts slide titles, hierarchical bullet points, tables, and speaker notes.</a:t>
            </a:r>
          </a:p>
          <a:p>
            <a:pPr>
              <a:spcAft>
                <a:spcPts val="800"/>
              </a:spcAft>
            </a:pPr>
            <a:r>
              <a:rPr sz="1100" b="1">
                <a:solidFill>
                  <a:srgbClr val="F8FAFC"/>
                </a:solidFill>
                <a:latin typeface="Segoe UI"/>
              </a:rPr>
              <a:t>•  Lecture Audio/Video: </a:t>
            </a:r>
            <a:r>
              <a:rPr sz="1100" b="0">
                <a:solidFill>
                  <a:srgbClr val="E2E8F0"/>
                </a:solidFill>
                <a:latin typeface="Segoe UI"/>
              </a:rPr>
              <a:t>Faster-Whisper and youtube-transcript-api generate timestamped transcripts (MM:SS).</a:t>
            </a:r>
          </a:p>
          <a:p>
            <a:pPr>
              <a:spcAft>
                <a:spcPts val="800"/>
              </a:spcAft>
            </a:pPr>
            <a:r>
              <a:rPr sz="1100" b="1">
                <a:solidFill>
                  <a:srgbClr val="F8FAFC"/>
                </a:solidFill>
                <a:latin typeface="Segoe UI"/>
              </a:rPr>
              <a:t>•  Diagram Vision: </a:t>
            </a:r>
            <a:r>
              <a:rPr sz="1100" b="0">
                <a:solidFill>
                  <a:srgbClr val="E2E8F0"/>
                </a:solidFill>
                <a:latin typeface="Segoe UI"/>
              </a:rPr>
              <a:t>qwen3-vl / Gemini Vision models extract relationships and entity diagrams from slide figures.</a:t>
            </a:r>
          </a:p>
        </p:txBody>
      </p:sp>
      <p:sp>
        <p:nvSpPr>
          <p:cNvPr id="5" name="Rounded Rectangle 4"/>
          <p:cNvSpPr/>
          <p:nvPr/>
        </p:nvSpPr>
        <p:spPr>
          <a:xfrm>
            <a:off x="4379976"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62856" y="1737360"/>
            <a:ext cx="3063240" cy="4297680"/>
          </a:xfrm>
          <a:prstGeom prst="rect">
            <a:avLst/>
          </a:prstGeom>
          <a:noFill/>
        </p:spPr>
        <p:txBody>
          <a:bodyPr wrap="square">
            <a:spAutoFit/>
          </a:bodyPr>
          <a:lstStyle/>
          <a:p>
            <a:pPr>
              <a:spcAft>
                <a:spcPts val="1000"/>
              </a:spcAft>
              <a:defRPr sz="1600" b="1">
                <a:solidFill>
                  <a:srgbClr val="F59E0B"/>
                </a:solidFill>
                <a:latin typeface="Segoe UI"/>
              </a:defRPr>
            </a:pPr>
            <a:r>
              <a:t>2. Immutable Anchors</a:t>
            </a:r>
          </a:p>
          <a:p>
            <a:pPr>
              <a:spcAft>
                <a:spcPts val="800"/>
              </a:spcAft>
            </a:pPr>
            <a:r>
              <a:rPr sz="1100" b="1">
                <a:solidFill>
                  <a:srgbClr val="F8FAFC"/>
                </a:solidFill>
                <a:latin typeface="Segoe UI"/>
              </a:rPr>
              <a:t>•  Zero Fake Citations: </a:t>
            </a:r>
            <a:r>
              <a:rPr sz="1100" b="0">
                <a:solidFill>
                  <a:srgbClr val="E2E8F0"/>
                </a:solidFill>
                <a:latin typeface="Segoe UI"/>
              </a:rPr>
              <a:t>Every single indexed chunk retains its physical origin metadata in ChromaDB.</a:t>
            </a:r>
          </a:p>
          <a:p>
            <a:pPr>
              <a:spcAft>
                <a:spcPts val="800"/>
              </a:spcAft>
            </a:pPr>
            <a:r>
              <a:rPr sz="1100" b="1">
                <a:solidFill>
                  <a:srgbClr val="F8FAFC"/>
                </a:solidFill>
                <a:latin typeface="Segoe UI"/>
              </a:rPr>
              <a:t>•  Granular Coordinates: </a:t>
            </a:r>
            <a:r>
              <a:rPr sz="1100" b="0">
                <a:solidFill>
                  <a:srgbClr val="E2E8F0"/>
                </a:solidFill>
                <a:latin typeface="Segoe UI"/>
              </a:rPr>
              <a:t>Chunks anchored with tags:
• [Source: Module 2 • Slide 18]
• [Source: Operating Systems • Page 340]
• [Source: Lecture 4 • 24:15]</a:t>
            </a:r>
          </a:p>
          <a:p>
            <a:pPr>
              <a:spcAft>
                <a:spcPts val="800"/>
              </a:spcAft>
            </a:pPr>
            <a:r>
              <a:rPr sz="1100" b="1">
                <a:solidFill>
                  <a:srgbClr val="F8FAFC"/>
                </a:solidFill>
                <a:latin typeface="Segoe UI"/>
              </a:rPr>
              <a:t>•  Integrity Verification: </a:t>
            </a:r>
            <a:r>
              <a:rPr sz="1100" b="0">
                <a:solidFill>
                  <a:srgbClr val="E2E8F0"/>
                </a:solidFill>
                <a:latin typeface="Segoe UI"/>
              </a:rPr>
              <a:t>Responses must cite verified anchors; hallucinated citations are automatically stripped.</a:t>
            </a:r>
          </a:p>
        </p:txBody>
      </p:sp>
      <p:sp>
        <p:nvSpPr>
          <p:cNvPr id="7" name="Rounded Rectangle 6"/>
          <p:cNvSpPr/>
          <p:nvPr/>
        </p:nvSpPr>
        <p:spPr>
          <a:xfrm>
            <a:off x="8028432"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11312" y="1737360"/>
            <a:ext cx="3063240" cy="4297680"/>
          </a:xfrm>
          <a:prstGeom prst="rect">
            <a:avLst/>
          </a:prstGeom>
          <a:noFill/>
        </p:spPr>
        <p:txBody>
          <a:bodyPr wrap="square">
            <a:spAutoFit/>
          </a:bodyPr>
          <a:lstStyle/>
          <a:p>
            <a:pPr>
              <a:spcAft>
                <a:spcPts val="1000"/>
              </a:spcAft>
              <a:defRPr sz="1600" b="1">
                <a:solidFill>
                  <a:srgbClr val="22C55E"/>
                </a:solidFill>
                <a:latin typeface="Segoe UI"/>
              </a:defRPr>
            </a:pPr>
            <a:r>
              <a:t>3. Source Viewer Drawer</a:t>
            </a:r>
          </a:p>
          <a:p>
            <a:pPr>
              <a:spcAft>
                <a:spcPts val="800"/>
              </a:spcAft>
            </a:pPr>
            <a:r>
              <a:rPr sz="1100" b="1">
                <a:solidFill>
                  <a:srgbClr val="F8FAFC"/>
                </a:solidFill>
                <a:latin typeface="Segoe UI"/>
              </a:rPr>
              <a:t>•  Slide-Over Drawer: </a:t>
            </a:r>
            <a:r>
              <a:rPr sz="1100" b="0">
                <a:solidFill>
                  <a:srgbClr val="E2E8F0"/>
                </a:solidFill>
                <a:latin typeface="Segoe UI"/>
              </a:rPr>
              <a:t>Clicking any citation chip in the chat dynamically opens the slide-over source drawer.</a:t>
            </a:r>
          </a:p>
          <a:p>
            <a:pPr>
              <a:spcAft>
                <a:spcPts val="800"/>
              </a:spcAft>
            </a:pPr>
            <a:r>
              <a:rPr sz="1100" b="1">
                <a:solidFill>
                  <a:srgbClr val="F8FAFC"/>
                </a:solidFill>
                <a:latin typeface="Segoe UI"/>
              </a:rPr>
              <a:t>•  Direct Jump: </a:t>
            </a:r>
            <a:r>
              <a:rPr sz="1100" b="0">
                <a:solidFill>
                  <a:srgbClr val="E2E8F0"/>
                </a:solidFill>
                <a:latin typeface="Segoe UI"/>
              </a:rPr>
              <a:t>Opens the exact PDF page, PPTX slide image, or video segment without leaving the chat.</a:t>
            </a:r>
          </a:p>
          <a:p>
            <a:pPr>
              <a:spcAft>
                <a:spcPts val="800"/>
              </a:spcAft>
            </a:pPr>
            <a:r>
              <a:rPr sz="1100" b="1">
                <a:solidFill>
                  <a:srgbClr val="F8FAFC"/>
                </a:solidFill>
                <a:latin typeface="Segoe UI"/>
              </a:rPr>
              <a:t>•  Student Trust: </a:t>
            </a:r>
            <a:r>
              <a:rPr sz="1100" b="0">
                <a:solidFill>
                  <a:srgbClr val="E2E8F0"/>
                </a:solidFill>
                <a:latin typeface="Segoe UI"/>
              </a:rPr>
              <a:t>Students can verify the AI's explanation against the professor's exact words in 1 click.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Hybrid Grounded RAG &amp; Strict Off-Material Refusal</a:t>
            </a:r>
          </a:p>
        </p:txBody>
      </p:sp>
      <p:sp>
        <p:nvSpPr>
          <p:cNvPr id="3" name="Rounded Rectangle 2"/>
          <p:cNvSpPr/>
          <p:nvPr/>
        </p:nvSpPr>
        <p:spPr>
          <a:xfrm>
            <a:off x="7315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663440" cy="4297680"/>
          </a:xfrm>
          <a:prstGeom prst="rect">
            <a:avLst/>
          </a:prstGeom>
          <a:noFill/>
        </p:spPr>
        <p:txBody>
          <a:bodyPr wrap="square">
            <a:spAutoFit/>
          </a:bodyPr>
          <a:lstStyle/>
          <a:p>
            <a:pPr>
              <a:spcAft>
                <a:spcPts val="1200"/>
              </a:spcAft>
              <a:defRPr sz="1800" b="1">
                <a:solidFill>
                  <a:srgbClr val="38BDF8"/>
                </a:solidFill>
                <a:latin typeface="Segoe UI"/>
              </a:defRPr>
            </a:pPr>
            <a:r>
              <a:t>Hybrid Grounded Retrieval Pipeline</a:t>
            </a:r>
          </a:p>
          <a:p>
            <a:pPr>
              <a:spcAft>
                <a:spcPts val="800"/>
              </a:spcAft>
            </a:pPr>
            <a:r>
              <a:rPr sz="1200" b="1">
                <a:solidFill>
                  <a:srgbClr val="F8FAFC"/>
                </a:solidFill>
                <a:latin typeface="Segoe UI"/>
              </a:rPr>
              <a:t>•  Multi-Turn Contextualization: </a:t>
            </a:r>
            <a:r>
              <a:rPr sz="1200" b="0">
                <a:solidFill>
                  <a:srgbClr val="E2E8F0"/>
                </a:solidFill>
                <a:latin typeface="Segoe UI"/>
              </a:rPr>
              <a:t>Rewrites ambiguous follow-up prompts (e.g. 'Can you give an example calculation?') using sliding conversation context.</a:t>
            </a:r>
          </a:p>
          <a:p>
            <a:pPr>
              <a:spcAft>
                <a:spcPts val="800"/>
              </a:spcAft>
            </a:pPr>
            <a:r>
              <a:rPr sz="1200" b="1">
                <a:solidFill>
                  <a:srgbClr val="F8FAFC"/>
                </a:solidFill>
                <a:latin typeface="Segoe UI"/>
              </a:rPr>
              <a:t>•  all-MiniLM-L6-v2 Dense Search: </a:t>
            </a:r>
            <a:r>
              <a:rPr sz="1200" b="0">
                <a:solidFill>
                  <a:srgbClr val="E2E8F0"/>
                </a:solidFill>
                <a:latin typeface="Segoe UI"/>
              </a:rPr>
              <a:t>Dense vector embeddings capture semantic intent and broad conceptual similarity in ChromaDB.</a:t>
            </a:r>
          </a:p>
          <a:p>
            <a:pPr>
              <a:spcAft>
                <a:spcPts val="800"/>
              </a:spcAft>
            </a:pPr>
            <a:r>
              <a:rPr sz="1200" b="1">
                <a:solidFill>
                  <a:srgbClr val="F8FAFC"/>
                </a:solidFill>
                <a:latin typeface="Segoe UI"/>
              </a:rPr>
              <a:t>•  BM25 Lexical Keyword Matching: </a:t>
            </a:r>
            <a:r>
              <a:rPr sz="1200" b="0">
                <a:solidFill>
                  <a:srgbClr val="E2E8F0"/>
                </a:solidFill>
                <a:latin typeface="Segoe UI"/>
              </a:rPr>
              <a:t>Catches exact technical acronyms, API function names, and mathematical equations missed by dense search.</a:t>
            </a:r>
          </a:p>
          <a:p>
            <a:pPr>
              <a:spcAft>
                <a:spcPts val="800"/>
              </a:spcAft>
            </a:pPr>
            <a:r>
              <a:rPr sz="1200" b="1">
                <a:solidFill>
                  <a:srgbClr val="F8FAFC"/>
                </a:solidFill>
                <a:latin typeface="Segoe UI"/>
              </a:rPr>
              <a:t>•  FlashRank Cross-Encoder Reranking: </a:t>
            </a:r>
            <a:r>
              <a:rPr sz="1200" b="0">
                <a:solidFill>
                  <a:srgbClr val="E2E8F0"/>
                </a:solidFill>
                <a:latin typeface="Segoe UI"/>
              </a:rPr>
              <a:t>Scores dense + sparse candidates with cross-attention to select top 3 most relevant passages.</a:t>
            </a:r>
          </a:p>
        </p:txBody>
      </p:sp>
      <p:sp>
        <p:nvSpPr>
          <p:cNvPr id="5" name="Rounded Rectangle 4"/>
          <p:cNvSpPr/>
          <p:nvPr/>
        </p:nvSpPr>
        <p:spPr>
          <a:xfrm>
            <a:off x="62179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737360"/>
            <a:ext cx="4663440" cy="4297680"/>
          </a:xfrm>
          <a:prstGeom prst="rect">
            <a:avLst/>
          </a:prstGeom>
          <a:noFill/>
        </p:spPr>
        <p:txBody>
          <a:bodyPr wrap="square">
            <a:spAutoFit/>
          </a:bodyPr>
          <a:lstStyle/>
          <a:p>
            <a:pPr>
              <a:spcAft>
                <a:spcPts val="1200"/>
              </a:spcAft>
              <a:defRPr sz="1800" b="1">
                <a:solidFill>
                  <a:srgbClr val="F59E0B"/>
                </a:solidFill>
                <a:latin typeface="Segoe UI"/>
              </a:defRPr>
            </a:pPr>
            <a:r>
              <a:t>Section 37 Off-Material Benchmark</a:t>
            </a:r>
          </a:p>
          <a:p>
            <a:pPr>
              <a:spcAft>
                <a:spcPts val="800"/>
              </a:spcAft>
            </a:pPr>
            <a:r>
              <a:rPr sz="1200" b="1">
                <a:solidFill>
                  <a:srgbClr val="F8FAFC"/>
                </a:solidFill>
                <a:latin typeface="Segoe UI"/>
              </a:rPr>
              <a:t>•  Zero Hallucination Policy: </a:t>
            </a:r>
            <a:r>
              <a:rPr sz="1200" b="0">
                <a:solidFill>
                  <a:srgbClr val="E2E8F0"/>
                </a:solidFill>
                <a:latin typeface="Segoe UI"/>
              </a:rPr>
              <a:t>If an inquiry asks for out-of-syllabus concepts (e.g., asking for chocolate cake recipes or GPU architectures in an OS course), the system strictly refuses.</a:t>
            </a:r>
          </a:p>
          <a:p>
            <a:pPr>
              <a:spcAft>
                <a:spcPts val="800"/>
              </a:spcAft>
            </a:pPr>
            <a:r>
              <a:rPr sz="1200" b="1">
                <a:solidFill>
                  <a:srgbClr val="FCA5A5"/>
                </a:solidFill>
                <a:latin typeface="Segoe UI"/>
              </a:rPr>
              <a:t>•  Standardized Refusal Message: </a:t>
            </a:r>
            <a:r>
              <a:rPr sz="1200" b="0">
                <a:solidFill>
                  <a:srgbClr val="E2E8F0"/>
                </a:solidFill>
                <a:latin typeface="Segoe UI"/>
              </a:rPr>
              <a:t>'This topic is not covered in the uploaded course material.'</a:t>
            </a:r>
          </a:p>
          <a:p>
            <a:pPr>
              <a:spcAft>
                <a:spcPts val="800"/>
              </a:spcAft>
            </a:pPr>
            <a:r>
              <a:rPr sz="1200" b="1">
                <a:solidFill>
                  <a:srgbClr val="F8FAFC"/>
                </a:solidFill>
                <a:latin typeface="Segoe UI"/>
              </a:rPr>
              <a:t>•  Opt-In Outside Knowledge: </a:t>
            </a:r>
            <a:r>
              <a:rPr sz="1200" b="0">
                <a:solidFill>
                  <a:srgbClr val="E2E8F0"/>
                </a:solidFill>
                <a:latin typeface="Segoe UI"/>
              </a:rPr>
              <a:t>The tutor offers an explicit 'Explain with Outside Knowledge' toggle, clearly labeled so students know it is external.</a:t>
            </a:r>
          </a:p>
          <a:p>
            <a:pPr>
              <a:spcAft>
                <a:spcPts val="800"/>
              </a:spcAft>
            </a:pPr>
            <a:r>
              <a:rPr sz="1200" b="1">
                <a:solidFill>
                  <a:srgbClr val="22C55E"/>
                </a:solidFill>
                <a:latin typeface="Segoe UI"/>
              </a:rPr>
              <a:t>•  100% Benchmark Score: </a:t>
            </a:r>
            <a:r>
              <a:rPr sz="1200" b="0">
                <a:solidFill>
                  <a:srgbClr val="E2E8F0"/>
                </a:solidFill>
                <a:latin typeface="Segoe UI"/>
              </a:rPr>
              <a:t>Tested across 5 adversarial out-of-syllabus queries in scripts/run_evaluation: 5/5 (100.0%) refusal accuracy.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Self-Verifying Adaptive Assessment Engine</a:t>
            </a:r>
          </a:p>
        </p:txBody>
      </p:sp>
      <p:sp>
        <p:nvSpPr>
          <p:cNvPr id="3" name="Rounded Rectangle 2"/>
          <p:cNvSpPr/>
          <p:nvPr/>
        </p:nvSpPr>
        <p:spPr>
          <a:xfrm>
            <a:off x="731520"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3063240" cy="4297680"/>
          </a:xfrm>
          <a:prstGeom prst="rect">
            <a:avLst/>
          </a:prstGeom>
          <a:noFill/>
        </p:spPr>
        <p:txBody>
          <a:bodyPr wrap="square">
            <a:spAutoFit/>
          </a:bodyPr>
          <a:lstStyle/>
          <a:p>
            <a:pPr>
              <a:spcAft>
                <a:spcPts val="1000"/>
              </a:spcAft>
              <a:defRPr sz="1600" b="1">
                <a:solidFill>
                  <a:srgbClr val="38BDF8"/>
                </a:solidFill>
                <a:latin typeface="Segoe UI"/>
              </a:defRPr>
            </a:pPr>
            <a:r>
              <a:t>1. Adaptive 50/30/20</a:t>
            </a:r>
          </a:p>
          <a:p>
            <a:pPr>
              <a:spcAft>
                <a:spcPts val="800"/>
              </a:spcAft>
            </a:pPr>
            <a:r>
              <a:rPr sz="1100" b="1">
                <a:solidFill>
                  <a:srgbClr val="F8FAFC"/>
                </a:solidFill>
                <a:latin typeface="Segoe UI"/>
              </a:rPr>
              <a:t>•  50% Weak Concepts: </a:t>
            </a:r>
            <a:r>
              <a:rPr sz="1100" b="0">
                <a:solidFill>
                  <a:srgbClr val="E2E8F0"/>
                </a:solidFill>
                <a:latin typeface="Segoe UI"/>
              </a:rPr>
              <a:t>P(L) &lt; 0.50 — Targets high-priority cognitive deficits where student needs scaffolding.</a:t>
            </a:r>
          </a:p>
          <a:p>
            <a:pPr>
              <a:spcAft>
                <a:spcPts val="800"/>
              </a:spcAft>
            </a:pPr>
            <a:r>
              <a:rPr sz="1100" b="1">
                <a:solidFill>
                  <a:srgbClr val="F8FAFC"/>
                </a:solidFill>
                <a:latin typeface="Segoe UI"/>
              </a:rPr>
              <a:t>•  30% Intermediate: </a:t>
            </a:r>
            <a:r>
              <a:rPr sz="1100" b="0">
                <a:solidFill>
                  <a:srgbClr val="E2E8F0"/>
                </a:solidFill>
                <a:latin typeface="Segoe UI"/>
              </a:rPr>
              <a:t>0.50 &lt;= P(L) &lt; 0.75 — Builds retention on emerging concepts.</a:t>
            </a:r>
          </a:p>
          <a:p>
            <a:pPr>
              <a:spcAft>
                <a:spcPts val="800"/>
              </a:spcAft>
            </a:pPr>
            <a:r>
              <a:rPr sz="1100" b="1">
                <a:solidFill>
                  <a:srgbClr val="F8FAFC"/>
                </a:solidFill>
                <a:latin typeface="Segoe UI"/>
              </a:rPr>
              <a:t>•  20% Review Mastery: </a:t>
            </a:r>
            <a:r>
              <a:rPr sz="1100" b="0">
                <a:solidFill>
                  <a:srgbClr val="E2E8F0"/>
                </a:solidFill>
                <a:latin typeface="Segoe UI"/>
              </a:rPr>
              <a:t>P(L) &gt;= 0.75 — Reinforces mastered skills to prevent Ebbinghaus forgetting decay.</a:t>
            </a:r>
          </a:p>
          <a:p>
            <a:pPr>
              <a:spcAft>
                <a:spcPts val="800"/>
              </a:spcAft>
            </a:pPr>
            <a:r>
              <a:rPr sz="1100" b="1">
                <a:solidFill>
                  <a:srgbClr val="F8FAFC"/>
                </a:solidFill>
                <a:latin typeface="Segoe UI"/>
              </a:rPr>
              <a:t>•  Diagnostic Mode: </a:t>
            </a:r>
            <a:r>
              <a:rPr sz="1100" b="0">
                <a:solidFill>
                  <a:srgbClr val="E2E8F0"/>
                </a:solidFill>
                <a:latin typeface="Segoe UI"/>
              </a:rPr>
              <a:t>Cold-start foundational pre-test for brand new courses.</a:t>
            </a:r>
          </a:p>
        </p:txBody>
      </p:sp>
      <p:sp>
        <p:nvSpPr>
          <p:cNvPr id="5" name="Rounded Rectangle 4"/>
          <p:cNvSpPr/>
          <p:nvPr/>
        </p:nvSpPr>
        <p:spPr>
          <a:xfrm>
            <a:off x="4379976"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62856" y="1737360"/>
            <a:ext cx="3063240" cy="4297680"/>
          </a:xfrm>
          <a:prstGeom prst="rect">
            <a:avLst/>
          </a:prstGeom>
          <a:noFill/>
        </p:spPr>
        <p:txBody>
          <a:bodyPr wrap="square">
            <a:spAutoFit/>
          </a:bodyPr>
          <a:lstStyle/>
          <a:p>
            <a:pPr>
              <a:spcAft>
                <a:spcPts val="1000"/>
              </a:spcAft>
              <a:defRPr sz="1600" b="1">
                <a:solidFill>
                  <a:srgbClr val="F59E0B"/>
                </a:solidFill>
                <a:latin typeface="Segoe UI"/>
              </a:defRPr>
            </a:pPr>
            <a:r>
              <a:t>2. SymPy Math Verifier</a:t>
            </a:r>
          </a:p>
          <a:p>
            <a:pPr>
              <a:spcAft>
                <a:spcPts val="800"/>
              </a:spcAft>
            </a:pPr>
            <a:r>
              <a:rPr sz="1100" b="1">
                <a:solidFill>
                  <a:srgbClr val="F8FAFC"/>
                </a:solidFill>
                <a:latin typeface="Segoe UI"/>
              </a:rPr>
              <a:t>•  Generator Pipeline: </a:t>
            </a:r>
            <a:r>
              <a:rPr sz="1100" b="0">
                <a:solidFill>
                  <a:srgbClr val="E2E8F0"/>
                </a:solidFill>
                <a:latin typeface="Segoe UI"/>
              </a:rPr>
              <a:t>LLM generates question, correct solution, explanation, and 3 distractors.</a:t>
            </a:r>
          </a:p>
          <a:p>
            <a:pPr>
              <a:spcAft>
                <a:spcPts val="800"/>
              </a:spcAft>
            </a:pPr>
            <a:r>
              <a:rPr sz="1100" b="1">
                <a:solidFill>
                  <a:srgbClr val="F8FAFC"/>
                </a:solidFill>
                <a:latin typeface="Segoe UI"/>
              </a:rPr>
              <a:t>•  Deterministic Symbolic Check: </a:t>
            </a:r>
            <a:r>
              <a:rPr sz="1100" b="0">
                <a:solidFill>
                  <a:srgbClr val="E2E8F0"/>
                </a:solidFill>
                <a:latin typeface="Segoe UI"/>
              </a:rPr>
              <a:t>SymPy library symbolically solves mathematical questions to ensure the target answer is mathematically true.</a:t>
            </a:r>
          </a:p>
          <a:p>
            <a:pPr>
              <a:spcAft>
                <a:spcPts val="800"/>
              </a:spcAft>
            </a:pPr>
            <a:r>
              <a:rPr sz="1100" b="1">
                <a:solidFill>
                  <a:srgbClr val="F8FAFC"/>
                </a:solidFill>
                <a:latin typeface="Segoe UI"/>
              </a:rPr>
              <a:t>•  Distractor Collision Check: </a:t>
            </a:r>
            <a:r>
              <a:rPr sz="1100" b="0">
                <a:solidFill>
                  <a:srgbClr val="E2E8F0"/>
                </a:solidFill>
                <a:latin typeface="Segoe UI"/>
              </a:rPr>
              <a:t>Verifies no duplicate distractors and confirms distractors are mathematically distinct from correct answer.</a:t>
            </a:r>
          </a:p>
        </p:txBody>
      </p:sp>
      <p:sp>
        <p:nvSpPr>
          <p:cNvPr id="7" name="Rounded Rectangle 6"/>
          <p:cNvSpPr/>
          <p:nvPr/>
        </p:nvSpPr>
        <p:spPr>
          <a:xfrm>
            <a:off x="8028432"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11312" y="1737360"/>
            <a:ext cx="3063240" cy="4297680"/>
          </a:xfrm>
          <a:prstGeom prst="rect">
            <a:avLst/>
          </a:prstGeom>
          <a:noFill/>
        </p:spPr>
        <p:txBody>
          <a:bodyPr wrap="square">
            <a:spAutoFit/>
          </a:bodyPr>
          <a:lstStyle/>
          <a:p>
            <a:pPr>
              <a:spcAft>
                <a:spcPts val="1000"/>
              </a:spcAft>
              <a:defRPr sz="1600" b="1">
                <a:solidFill>
                  <a:srgbClr val="22C55E"/>
                </a:solidFill>
                <a:latin typeface="Segoe UI"/>
              </a:defRPr>
            </a:pPr>
            <a:r>
              <a:t>3. Novelty &amp; Remediation</a:t>
            </a:r>
          </a:p>
          <a:p>
            <a:pPr>
              <a:spcAft>
                <a:spcPts val="800"/>
              </a:spcAft>
            </a:pPr>
            <a:r>
              <a:rPr sz="1100" b="1">
                <a:solidFill>
                  <a:srgbClr val="F8FAFC"/>
                </a:solidFill>
                <a:latin typeface="Segoe UI"/>
              </a:rPr>
              <a:t>•  Cosine Novelty Checker: </a:t>
            </a:r>
            <a:r>
              <a:rPr sz="1100" b="0">
                <a:solidFill>
                  <a:srgbClr val="E2E8F0"/>
                </a:solidFill>
                <a:latin typeface="Segoe UI"/>
              </a:rPr>
              <a:t>Computes all-MiniLM-L6-v2 dense embedding cosine similarity against all previously asked questions.</a:t>
            </a:r>
          </a:p>
          <a:p>
            <a:pPr>
              <a:spcAft>
                <a:spcPts val="800"/>
              </a:spcAft>
            </a:pPr>
            <a:r>
              <a:rPr sz="1100" b="1">
                <a:solidFill>
                  <a:srgbClr val="F8FAFC"/>
                </a:solidFill>
                <a:latin typeface="Segoe UI"/>
              </a:rPr>
              <a:t>•  0% Question Repetition: </a:t>
            </a:r>
            <a:r>
              <a:rPr sz="1100" b="0">
                <a:solidFill>
                  <a:srgbClr val="E2E8F0"/>
                </a:solidFill>
                <a:latin typeface="Segoe UI"/>
              </a:rPr>
              <a:t>Rejects any generated question with similarity &gt; 0.85, guaranteeing zero repeats.</a:t>
            </a:r>
          </a:p>
          <a:p>
            <a:pPr>
              <a:spcAft>
                <a:spcPts val="800"/>
              </a:spcAft>
            </a:pPr>
            <a:r>
              <a:rPr sz="1100" b="1">
                <a:solidFill>
                  <a:srgbClr val="F8FAFC"/>
                </a:solidFill>
                <a:latin typeface="Segoe UI"/>
              </a:rPr>
              <a:t>•  Misconception Diagnosis: </a:t>
            </a:r>
            <a:r>
              <a:rPr sz="1100" b="0">
                <a:solidFill>
                  <a:srgbClr val="E2E8F0"/>
                </a:solidFill>
                <a:latin typeface="Segoe UI"/>
              </a:rPr>
              <a:t>Maps chosen wrong answers to specific conceptual errors and injects remediation guidance.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Three-Tier Cognitive Memory Architecture</a:t>
            </a:r>
          </a:p>
        </p:txBody>
      </p:sp>
      <p:sp>
        <p:nvSpPr>
          <p:cNvPr id="3" name="Rounded Rectangle 2"/>
          <p:cNvSpPr/>
          <p:nvPr/>
        </p:nvSpPr>
        <p:spPr>
          <a:xfrm>
            <a:off x="731520"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3063240" cy="4297680"/>
          </a:xfrm>
          <a:prstGeom prst="rect">
            <a:avLst/>
          </a:prstGeom>
          <a:noFill/>
        </p:spPr>
        <p:txBody>
          <a:bodyPr wrap="square">
            <a:spAutoFit/>
          </a:bodyPr>
          <a:lstStyle/>
          <a:p>
            <a:pPr>
              <a:spcAft>
                <a:spcPts val="1000"/>
              </a:spcAft>
              <a:defRPr sz="1600" b="1">
                <a:solidFill>
                  <a:srgbClr val="38BDF8"/>
                </a:solidFill>
                <a:latin typeface="Segoe UI"/>
              </a:defRPr>
            </a:pPr>
            <a:r>
              <a:t>TIER 1</a:t>
            </a:r>
            <a:br/>
            <a:r>
              <a:t>Short-Term Memory</a:t>
            </a:r>
          </a:p>
          <a:p>
            <a:pPr>
              <a:spcAft>
                <a:spcPts val="800"/>
              </a:spcAft>
            </a:pPr>
            <a:r>
              <a:rPr sz="1100" b="1">
                <a:solidFill>
                  <a:srgbClr val="F8FAFC"/>
                </a:solidFill>
                <a:latin typeface="Segoe UI"/>
              </a:rPr>
              <a:t>•  Sliding Dialogue Window: </a:t>
            </a:r>
            <a:r>
              <a:rPr sz="1100" b="0">
                <a:solidFill>
                  <a:srgbClr val="E2E8F0"/>
                </a:solidFill>
                <a:latin typeface="Segoe UI"/>
              </a:rPr>
              <a:t>Maintains active session dialogue turns for conversational coherence.</a:t>
            </a:r>
          </a:p>
          <a:p>
            <a:pPr>
              <a:spcAft>
                <a:spcPts val="800"/>
              </a:spcAft>
            </a:pPr>
            <a:r>
              <a:rPr sz="1100" b="1">
                <a:solidFill>
                  <a:srgbClr val="F8FAFC"/>
                </a:solidFill>
                <a:latin typeface="Segoe UI"/>
              </a:rPr>
              <a:t>•  Query Disambiguation: </a:t>
            </a:r>
            <a:r>
              <a:rPr sz="1100" b="0">
                <a:solidFill>
                  <a:srgbClr val="E2E8F0"/>
                </a:solidFill>
                <a:latin typeface="Segoe UI"/>
              </a:rPr>
              <a:t>Resolves anaphoric references ('what was that algorithm again?') to the active topic.</a:t>
            </a:r>
          </a:p>
          <a:p>
            <a:pPr>
              <a:spcAft>
                <a:spcPts val="800"/>
              </a:spcAft>
            </a:pPr>
            <a:r>
              <a:rPr sz="1100" b="1">
                <a:solidFill>
                  <a:srgbClr val="F8FAFC"/>
                </a:solidFill>
                <a:latin typeface="Segoe UI"/>
              </a:rPr>
              <a:t>•  Session Scaffolding: </a:t>
            </a:r>
            <a:r>
              <a:rPr sz="1100" b="0">
                <a:solidFill>
                  <a:srgbClr val="E2E8F0"/>
                </a:solidFill>
                <a:latin typeface="Segoe UI"/>
              </a:rPr>
              <a:t>Tracks whether the current turn needs step-by-step guidance or quick confirmation.</a:t>
            </a:r>
          </a:p>
        </p:txBody>
      </p:sp>
      <p:sp>
        <p:nvSpPr>
          <p:cNvPr id="5" name="Rounded Rectangle 4"/>
          <p:cNvSpPr/>
          <p:nvPr/>
        </p:nvSpPr>
        <p:spPr>
          <a:xfrm>
            <a:off x="4379976"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62856" y="1737360"/>
            <a:ext cx="3063240" cy="4297680"/>
          </a:xfrm>
          <a:prstGeom prst="rect">
            <a:avLst/>
          </a:prstGeom>
          <a:noFill/>
        </p:spPr>
        <p:txBody>
          <a:bodyPr wrap="square">
            <a:spAutoFit/>
          </a:bodyPr>
          <a:lstStyle/>
          <a:p>
            <a:pPr>
              <a:spcAft>
                <a:spcPts val="1000"/>
              </a:spcAft>
              <a:defRPr sz="1600" b="1">
                <a:solidFill>
                  <a:srgbClr val="F59E0B"/>
                </a:solidFill>
                <a:latin typeface="Segoe UI"/>
              </a:defRPr>
            </a:pPr>
            <a:r>
              <a:t>TIER 2</a:t>
            </a:r>
            <a:br/>
            <a:r>
              <a:t>Long-Term Profile</a:t>
            </a:r>
          </a:p>
          <a:p>
            <a:pPr>
              <a:spcAft>
                <a:spcPts val="800"/>
              </a:spcAft>
            </a:pPr>
            <a:r>
              <a:rPr sz="1100" b="1">
                <a:solidFill>
                  <a:srgbClr val="F8FAFC"/>
                </a:solidFill>
                <a:latin typeface="Segoe UI"/>
              </a:rPr>
              <a:t>•  Relational SQLite State: </a:t>
            </a:r>
            <a:r>
              <a:rPr sz="1100" b="0">
                <a:solidFill>
                  <a:srgbClr val="E2E8F0"/>
                </a:solidFill>
                <a:latin typeface="Segoe UI"/>
              </a:rPr>
              <a:t>Persistent mastery distributions P(L) across all course topics.</a:t>
            </a:r>
          </a:p>
          <a:p>
            <a:pPr>
              <a:spcAft>
                <a:spcPts val="800"/>
              </a:spcAft>
            </a:pPr>
            <a:r>
              <a:rPr sz="1100" b="1">
                <a:solidFill>
                  <a:srgbClr val="F8FAFC"/>
                </a:solidFill>
                <a:latin typeface="Segoe UI"/>
              </a:rPr>
              <a:t>•  Behavioral Profile: </a:t>
            </a:r>
            <a:r>
              <a:rPr sz="1100" b="0">
                <a:solidFill>
                  <a:srgbClr val="E2E8F0"/>
                </a:solidFill>
                <a:latin typeface="Segoe UI"/>
              </a:rPr>
              <a:t>Tracks explanation preference (analogy first vs formal math first), pacing, and scaffolding level.</a:t>
            </a:r>
          </a:p>
          <a:p>
            <a:pPr>
              <a:spcAft>
                <a:spcPts val="800"/>
              </a:spcAft>
            </a:pPr>
            <a:r>
              <a:rPr sz="1100" b="1">
                <a:solidFill>
                  <a:srgbClr val="F8FAFC"/>
                </a:solidFill>
                <a:latin typeface="Segoe UI"/>
              </a:rPr>
              <a:t>•  Dynamic Adaptation: </a:t>
            </a:r>
            <a:r>
              <a:rPr sz="1100" b="0">
                <a:solidFill>
                  <a:srgbClr val="E2E8F0"/>
                </a:solidFill>
                <a:latin typeface="Segoe UI"/>
              </a:rPr>
              <a:t>Switches to 'intuitive analogy first' automatically when repeated confusion signals occur.</a:t>
            </a:r>
          </a:p>
        </p:txBody>
      </p:sp>
      <p:sp>
        <p:nvSpPr>
          <p:cNvPr id="7" name="Rounded Rectangle 6"/>
          <p:cNvSpPr/>
          <p:nvPr/>
        </p:nvSpPr>
        <p:spPr>
          <a:xfrm>
            <a:off x="8028432"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11312" y="1737360"/>
            <a:ext cx="3063240" cy="4297680"/>
          </a:xfrm>
          <a:prstGeom prst="rect">
            <a:avLst/>
          </a:prstGeom>
          <a:noFill/>
        </p:spPr>
        <p:txBody>
          <a:bodyPr wrap="square">
            <a:spAutoFit/>
          </a:bodyPr>
          <a:lstStyle/>
          <a:p>
            <a:pPr>
              <a:spcAft>
                <a:spcPts val="1000"/>
              </a:spcAft>
              <a:defRPr sz="1600" b="1">
                <a:solidFill>
                  <a:srgbClr val="22C55E"/>
                </a:solidFill>
                <a:latin typeface="Segoe UI"/>
              </a:defRPr>
            </a:pPr>
            <a:r>
              <a:t>TIER 3</a:t>
            </a:r>
            <a:br/>
            <a:r>
              <a:t>Episodic Memory</a:t>
            </a:r>
          </a:p>
          <a:p>
            <a:pPr>
              <a:spcAft>
                <a:spcPts val="800"/>
              </a:spcAft>
            </a:pPr>
            <a:r>
              <a:rPr sz="1100" b="1">
                <a:solidFill>
                  <a:srgbClr val="F8FAFC"/>
                </a:solidFill>
                <a:latin typeface="Segoe UI"/>
              </a:rPr>
              <a:t>•  Milestone Timeline: </a:t>
            </a:r>
            <a:r>
              <a:rPr sz="1100" b="0">
                <a:solidFill>
                  <a:srgbClr val="E2E8F0"/>
                </a:solidFill>
                <a:latin typeface="Segoe UI"/>
              </a:rPr>
              <a:t>Chronological records of critical learning events: confusion, breakthroughs, and misconceptions.</a:t>
            </a:r>
          </a:p>
          <a:p>
            <a:pPr>
              <a:spcAft>
                <a:spcPts val="800"/>
              </a:spcAft>
            </a:pPr>
            <a:r>
              <a:rPr sz="1100" b="1">
                <a:solidFill>
                  <a:srgbClr val="F8FAFC"/>
                </a:solidFill>
                <a:latin typeface="Segoe UI"/>
              </a:rPr>
              <a:t>•  Prompt Injection: </a:t>
            </a:r>
            <a:r>
              <a:rPr sz="1100" b="0">
                <a:solidFill>
                  <a:srgbClr val="E2E8F0"/>
                </a:solidFill>
                <a:latin typeface="Segoe UI"/>
              </a:rPr>
              <a:t>Future tutor prompts inject past episodic struggles: 'Recall how we resolved Banker's algorithm last Tuesday?'</a:t>
            </a:r>
          </a:p>
          <a:p>
            <a:pPr>
              <a:spcAft>
                <a:spcPts val="800"/>
              </a:spcAft>
            </a:pPr>
            <a:r>
              <a:rPr sz="1100" b="1">
                <a:solidFill>
                  <a:srgbClr val="F8FAFC"/>
                </a:solidFill>
                <a:latin typeface="Segoe UI"/>
              </a:rPr>
              <a:t>•  Metacognitive Growth: </a:t>
            </a:r>
            <a:r>
              <a:rPr sz="1100" b="0">
                <a:solidFill>
                  <a:srgbClr val="E2E8F0"/>
                </a:solidFill>
                <a:latin typeface="Segoe UI"/>
              </a:rPr>
              <a:t>Empowers the student by referencing their own demonstrated progress over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Technical Engineering Highlights &amp; Problem-Solving</a:t>
            </a:r>
          </a:p>
        </p:txBody>
      </p:sp>
      <p:sp>
        <p:nvSpPr>
          <p:cNvPr id="3" name="Rounded Rectangle 2"/>
          <p:cNvSpPr/>
          <p:nvPr/>
        </p:nvSpPr>
        <p:spPr>
          <a:xfrm>
            <a:off x="7315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663440" cy="4297680"/>
          </a:xfrm>
          <a:prstGeom prst="rect">
            <a:avLst/>
          </a:prstGeom>
          <a:noFill/>
        </p:spPr>
        <p:txBody>
          <a:bodyPr wrap="square">
            <a:spAutoFit/>
          </a:bodyPr>
          <a:lstStyle/>
          <a:p>
            <a:pPr>
              <a:spcAft>
                <a:spcPts val="1200"/>
              </a:spcAft>
              <a:defRPr sz="1800" b="1">
                <a:solidFill>
                  <a:srgbClr val="38BDF8"/>
                </a:solidFill>
                <a:latin typeface="Segoe UI"/>
              </a:defRPr>
            </a:pPr>
            <a:r>
              <a:t>Production Technology Stack</a:t>
            </a:r>
          </a:p>
          <a:p>
            <a:pPr>
              <a:spcAft>
                <a:spcPts val="800"/>
              </a:spcAft>
            </a:pPr>
            <a:r>
              <a:rPr sz="1200" b="1">
                <a:solidFill>
                  <a:srgbClr val="F8FAFC"/>
                </a:solidFill>
                <a:latin typeface="Segoe UI"/>
              </a:rPr>
              <a:t>•  Backend: </a:t>
            </a:r>
            <a:r>
              <a:rPr sz="1200" b="0">
                <a:solidFill>
                  <a:srgbClr val="E2E8F0"/>
                </a:solidFill>
                <a:latin typeface="Segoe UI"/>
              </a:rPr>
              <a:t>FastAPI (Async Python 3.13), AsyncSQLAlchemy, SQLite WAL mode.</a:t>
            </a:r>
          </a:p>
          <a:p>
            <a:pPr>
              <a:spcAft>
                <a:spcPts val="800"/>
              </a:spcAft>
            </a:pPr>
            <a:r>
              <a:rPr sz="1200" b="1">
                <a:solidFill>
                  <a:srgbClr val="F8FAFC"/>
                </a:solidFill>
                <a:latin typeface="Segoe UI"/>
              </a:rPr>
              <a:t>•  Frontend: </a:t>
            </a:r>
            <a:r>
              <a:rPr sz="1200" b="0">
                <a:solidFill>
                  <a:srgbClr val="E2E8F0"/>
                </a:solidFill>
                <a:latin typeface="Segoe UI"/>
              </a:rPr>
              <a:t>React 19, TypeScript, Vite, Tailwind CSS, KaTeX math typesetting.</a:t>
            </a:r>
          </a:p>
          <a:p>
            <a:pPr>
              <a:spcAft>
                <a:spcPts val="800"/>
              </a:spcAft>
            </a:pPr>
            <a:r>
              <a:rPr sz="1200" b="1">
                <a:solidFill>
                  <a:srgbClr val="F8FAFC"/>
                </a:solidFill>
                <a:latin typeface="Segoe UI"/>
              </a:rPr>
              <a:t>•  Local LLM Runtime: </a:t>
            </a:r>
            <a:r>
              <a:rPr sz="1200" b="0">
                <a:solidFill>
                  <a:srgbClr val="E2E8F0"/>
                </a:solidFill>
                <a:latin typeface="Segoe UI"/>
              </a:rPr>
              <a:t>Ollama daemon running qwen2.5:7b on NVIDIA RTX GPU (CUDA acceleration).</a:t>
            </a:r>
          </a:p>
          <a:p>
            <a:pPr>
              <a:spcAft>
                <a:spcPts val="800"/>
              </a:spcAft>
            </a:pPr>
            <a:r>
              <a:rPr sz="1200" b="1">
                <a:solidFill>
                  <a:srgbClr val="F8FAFC"/>
                </a:solidFill>
                <a:latin typeface="Segoe UI"/>
              </a:rPr>
              <a:t>•  Retrieval &amp; Vectors: </a:t>
            </a:r>
            <a:r>
              <a:rPr sz="1200" b="0">
                <a:solidFill>
                  <a:srgbClr val="E2E8F0"/>
                </a:solidFill>
                <a:latin typeface="Segoe UI"/>
              </a:rPr>
              <a:t>ChromaDB embedded vector database, all-MiniLM-L6-v2 embeddings, FlashRank reranker.</a:t>
            </a:r>
          </a:p>
          <a:p>
            <a:pPr>
              <a:spcAft>
                <a:spcPts val="800"/>
              </a:spcAft>
            </a:pPr>
            <a:r>
              <a:rPr sz="1200" b="1">
                <a:solidFill>
                  <a:srgbClr val="F8FAFC"/>
                </a:solidFill>
                <a:latin typeface="Segoe UI"/>
              </a:rPr>
              <a:t>•  Data Ingestion: </a:t>
            </a:r>
            <a:r>
              <a:rPr sz="1200" b="0">
                <a:solidFill>
                  <a:srgbClr val="E2E8F0"/>
                </a:solidFill>
                <a:latin typeface="Segoe UI"/>
              </a:rPr>
              <a:t>PyMuPDF, python-pptx, Faster-Whisper, SymPy.</a:t>
            </a:r>
          </a:p>
        </p:txBody>
      </p:sp>
      <p:sp>
        <p:nvSpPr>
          <p:cNvPr id="5" name="Rounded Rectangle 4"/>
          <p:cNvSpPr/>
          <p:nvPr/>
        </p:nvSpPr>
        <p:spPr>
          <a:xfrm>
            <a:off x="62179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737360"/>
            <a:ext cx="4663440" cy="4297680"/>
          </a:xfrm>
          <a:prstGeom prst="rect">
            <a:avLst/>
          </a:prstGeom>
          <a:noFill/>
        </p:spPr>
        <p:txBody>
          <a:bodyPr wrap="square">
            <a:spAutoFit/>
          </a:bodyPr>
          <a:lstStyle/>
          <a:p>
            <a:pPr>
              <a:spcAft>
                <a:spcPts val="1200"/>
              </a:spcAft>
              <a:defRPr sz="1800" b="1">
                <a:solidFill>
                  <a:srgbClr val="F59E0B"/>
                </a:solidFill>
                <a:latin typeface="Segoe UI"/>
              </a:defRPr>
            </a:pPr>
            <a:r>
              <a:t>Engineering Issues Resolved</a:t>
            </a:r>
          </a:p>
          <a:p>
            <a:pPr>
              <a:spcAft>
                <a:spcPts val="800"/>
              </a:spcAft>
            </a:pPr>
            <a:r>
              <a:rPr sz="1200" b="1">
                <a:solidFill>
                  <a:srgbClr val="F8FAFC"/>
                </a:solidFill>
                <a:latin typeface="Segoe UI"/>
              </a:rPr>
              <a:t>•  Resilient LLM Auto-Fallback: </a:t>
            </a:r>
            <a:r>
              <a:rPr sz="1200" b="0">
                <a:solidFill>
                  <a:srgbClr val="E2E8F0"/>
                </a:solidFill>
                <a:latin typeface="Segoe UI"/>
              </a:rPr>
              <a:t>Added robust try/except fallback logic so offline AI endpoints gracefully fall back to MockLLM without crashing HTTP 500.</a:t>
            </a:r>
          </a:p>
          <a:p>
            <a:pPr>
              <a:spcAft>
                <a:spcPts val="800"/>
              </a:spcAft>
            </a:pPr>
            <a:r>
              <a:rPr sz="1200" b="1">
                <a:solidFill>
                  <a:srgbClr val="F8FAFC"/>
                </a:solidFill>
                <a:latin typeface="Segoe UI"/>
              </a:rPr>
              <a:t>•  KaTeX Math Rendering: </a:t>
            </a:r>
            <a:r>
              <a:rPr sz="1200" b="0">
                <a:solidFill>
                  <a:srgbClr val="E2E8F0"/>
                </a:solidFill>
                <a:latin typeface="Segoe UI"/>
              </a:rPr>
              <a:t>Upgraded regex tokenizers in FormattedMessage.tsx to parse LaTeX delimiters \(...\) and \[...\] into clean rendered math.</a:t>
            </a:r>
          </a:p>
          <a:p>
            <a:pPr>
              <a:spcAft>
                <a:spcPts val="800"/>
              </a:spcAft>
            </a:pPr>
            <a:r>
              <a:rPr sz="1200" b="1">
                <a:solidFill>
                  <a:srgbClr val="F8FAFC"/>
                </a:solidFill>
                <a:latin typeface="Segoe UI"/>
              </a:rPr>
              <a:t>•  Windows Execution Policy: </a:t>
            </a:r>
            <a:r>
              <a:rPr sz="1200" b="0">
                <a:solidFill>
                  <a:srgbClr val="E2E8F0"/>
                </a:solidFill>
                <a:latin typeface="Segoe UI"/>
              </a:rPr>
              <a:t>Resolved PowerShell npm.ps1 restrictions by using npm.cmd to ensure reliable frontend startup.</a:t>
            </a:r>
          </a:p>
          <a:p>
            <a:pPr>
              <a:spcAft>
                <a:spcPts val="800"/>
              </a:spcAft>
            </a:pPr>
            <a:r>
              <a:rPr sz="1200" b="1">
                <a:solidFill>
                  <a:srgbClr val="F8FAFC"/>
                </a:solidFill>
                <a:latin typeface="Segoe UI"/>
              </a:rPr>
              <a:t>•  UI Streamlining: </a:t>
            </a:r>
            <a:r>
              <a:rPr sz="1200" b="0">
                <a:solidFill>
                  <a:srgbClr val="E2E8F0"/>
                </a:solidFill>
                <a:latin typeface="Segoe UI"/>
              </a:rPr>
              <a:t>Consolidated navigation from 7 tabs to 5 focused views (Dashboard, Tutor, Tests, Courses, Profile).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Evaluation Benchmarks &amp; Live Demo Verification</a:t>
            </a:r>
          </a:p>
        </p:txBody>
      </p:sp>
      <p:sp>
        <p:nvSpPr>
          <p:cNvPr id="3" name="Rounded Rectangle 2"/>
          <p:cNvSpPr/>
          <p:nvPr/>
        </p:nvSpPr>
        <p:spPr>
          <a:xfrm>
            <a:off x="731520" y="1554480"/>
            <a:ext cx="251460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91640"/>
            <a:ext cx="2240280" cy="1828800"/>
          </a:xfrm>
          <a:prstGeom prst="rect">
            <a:avLst/>
          </a:prstGeom>
          <a:noFill/>
        </p:spPr>
        <p:txBody>
          <a:bodyPr wrap="square">
            <a:spAutoFit/>
          </a:bodyPr>
          <a:lstStyle/>
          <a:p>
            <a:pPr>
              <a:spcAft>
                <a:spcPts val="200"/>
              </a:spcAft>
              <a:defRPr sz="2800" b="1">
                <a:solidFill>
                  <a:srgbClr val="38BDF8"/>
                </a:solidFill>
                <a:latin typeface="Segoe UI"/>
              </a:defRPr>
            </a:pPr>
            <a:r>
              <a:t>100.0%</a:t>
            </a:r>
          </a:p>
          <a:p>
            <a:pPr>
              <a:spcAft>
                <a:spcPts val="400"/>
              </a:spcAft>
              <a:defRPr sz="1300" b="1">
                <a:solidFill>
                  <a:srgbClr val="F8FAFC"/>
                </a:solidFill>
                <a:latin typeface="Segoe UI"/>
              </a:defRPr>
            </a:pPr>
            <a:r>
              <a:t>Off-Material Refusal</a:t>
            </a:r>
          </a:p>
          <a:p>
            <a:pPr>
              <a:defRPr sz="1000">
                <a:solidFill>
                  <a:srgbClr val="94A3B8"/>
                </a:solidFill>
                <a:latin typeface="Segoe UI"/>
              </a:defRPr>
            </a:pPr>
            <a:r>
              <a:t>Section 37 benchmark: 5/5 out-of-syllabus questions strictly rejected.</a:t>
            </a:r>
          </a:p>
        </p:txBody>
      </p:sp>
      <p:sp>
        <p:nvSpPr>
          <p:cNvPr id="5" name="Rounded Rectangle 4"/>
          <p:cNvSpPr/>
          <p:nvPr/>
        </p:nvSpPr>
        <p:spPr>
          <a:xfrm>
            <a:off x="3465576" y="1554480"/>
            <a:ext cx="251460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2736" y="1691640"/>
            <a:ext cx="2240280" cy="1828800"/>
          </a:xfrm>
          <a:prstGeom prst="rect">
            <a:avLst/>
          </a:prstGeom>
          <a:noFill/>
        </p:spPr>
        <p:txBody>
          <a:bodyPr wrap="square">
            <a:spAutoFit/>
          </a:bodyPr>
          <a:lstStyle/>
          <a:p>
            <a:pPr>
              <a:spcAft>
                <a:spcPts val="200"/>
              </a:spcAft>
              <a:defRPr sz="2800" b="1">
                <a:solidFill>
                  <a:srgbClr val="22C55E"/>
                </a:solidFill>
                <a:latin typeface="Segoe UI"/>
              </a:defRPr>
            </a:pPr>
            <a:r>
              <a:t>100.0%</a:t>
            </a:r>
          </a:p>
          <a:p>
            <a:pPr>
              <a:spcAft>
                <a:spcPts val="400"/>
              </a:spcAft>
              <a:defRPr sz="1300" b="1">
                <a:solidFill>
                  <a:srgbClr val="F8FAFC"/>
                </a:solidFill>
                <a:latin typeface="Segoe UI"/>
              </a:defRPr>
            </a:pPr>
            <a:r>
              <a:t>Citation Grounding</a:t>
            </a:r>
          </a:p>
          <a:p>
            <a:pPr>
              <a:defRPr sz="1000">
                <a:solidFill>
                  <a:srgbClr val="94A3B8"/>
                </a:solidFill>
                <a:latin typeface="Segoe UI"/>
              </a:defRPr>
            </a:pPr>
            <a:r>
              <a:t>Zero unanchored statements; all facts point to verified slides/pages.</a:t>
            </a:r>
          </a:p>
        </p:txBody>
      </p:sp>
      <p:sp>
        <p:nvSpPr>
          <p:cNvPr id="7" name="Rounded Rectangle 6"/>
          <p:cNvSpPr/>
          <p:nvPr/>
        </p:nvSpPr>
        <p:spPr>
          <a:xfrm>
            <a:off x="6199632" y="1554480"/>
            <a:ext cx="251460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36792" y="1691640"/>
            <a:ext cx="2240280" cy="1828800"/>
          </a:xfrm>
          <a:prstGeom prst="rect">
            <a:avLst/>
          </a:prstGeom>
          <a:noFill/>
        </p:spPr>
        <p:txBody>
          <a:bodyPr wrap="square">
            <a:spAutoFit/>
          </a:bodyPr>
          <a:lstStyle/>
          <a:p>
            <a:pPr>
              <a:spcAft>
                <a:spcPts val="200"/>
              </a:spcAft>
              <a:defRPr sz="2800" b="1">
                <a:solidFill>
                  <a:srgbClr val="F59E0B"/>
                </a:solidFill>
                <a:latin typeface="Segoe UI"/>
              </a:defRPr>
            </a:pPr>
            <a:r>
              <a:t>100.0%</a:t>
            </a:r>
          </a:p>
          <a:p>
            <a:pPr>
              <a:spcAft>
                <a:spcPts val="400"/>
              </a:spcAft>
              <a:defRPr sz="1300" b="1">
                <a:solidFill>
                  <a:srgbClr val="F8FAFC"/>
                </a:solidFill>
                <a:latin typeface="Segoe UI"/>
              </a:defRPr>
            </a:pPr>
            <a:r>
              <a:t>Question Novelty</a:t>
            </a:r>
          </a:p>
          <a:p>
            <a:pPr>
              <a:defRPr sz="1000">
                <a:solidFill>
                  <a:srgbClr val="94A3B8"/>
                </a:solidFill>
                <a:latin typeface="Segoe UI"/>
              </a:defRPr>
            </a:pPr>
            <a:r>
              <a:t>Zero repetition; MiniLM dense cosine similarity threshold &lt; 0.85 enforced.</a:t>
            </a:r>
          </a:p>
        </p:txBody>
      </p:sp>
      <p:sp>
        <p:nvSpPr>
          <p:cNvPr id="9" name="Rounded Rectangle 8"/>
          <p:cNvSpPr/>
          <p:nvPr/>
        </p:nvSpPr>
        <p:spPr>
          <a:xfrm>
            <a:off x="8933688" y="1554480"/>
            <a:ext cx="251460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70848" y="1691640"/>
            <a:ext cx="2240280" cy="1828800"/>
          </a:xfrm>
          <a:prstGeom prst="rect">
            <a:avLst/>
          </a:prstGeom>
          <a:noFill/>
        </p:spPr>
        <p:txBody>
          <a:bodyPr wrap="square">
            <a:spAutoFit/>
          </a:bodyPr>
          <a:lstStyle/>
          <a:p>
            <a:pPr>
              <a:spcAft>
                <a:spcPts val="200"/>
              </a:spcAft>
              <a:defRPr sz="2800" b="1">
                <a:solidFill>
                  <a:srgbClr val="A855F7"/>
                </a:solidFill>
                <a:latin typeface="Segoe UI"/>
              </a:defRPr>
            </a:pPr>
            <a:r>
              <a:t>+95.0%</a:t>
            </a:r>
          </a:p>
          <a:p>
            <a:pPr>
              <a:spcAft>
                <a:spcPts val="400"/>
              </a:spcAft>
              <a:defRPr sz="1300" b="1">
                <a:solidFill>
                  <a:srgbClr val="F8FAFC"/>
                </a:solidFill>
                <a:latin typeface="Segoe UI"/>
              </a:defRPr>
            </a:pPr>
            <a:r>
              <a:t>BKT Learning Gain</a:t>
            </a:r>
          </a:p>
          <a:p>
            <a:pPr>
              <a:defRPr sz="1000">
                <a:solidFill>
                  <a:srgbClr val="94A3B8"/>
                </a:solidFill>
                <a:latin typeface="Segoe UI"/>
              </a:defRPr>
            </a:pPr>
            <a:r>
              <a:t>Simulated learner trajectory mastery increased from 0.15 to 0.95.</a:t>
            </a:r>
          </a:p>
        </p:txBody>
      </p:sp>
      <p:sp>
        <p:nvSpPr>
          <p:cNvPr id="11" name="Rounded Rectangle 10"/>
          <p:cNvSpPr/>
          <p:nvPr/>
        </p:nvSpPr>
        <p:spPr>
          <a:xfrm>
            <a:off x="731520" y="3931920"/>
            <a:ext cx="10728655" cy="2286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14800"/>
            <a:ext cx="10149840" cy="1920240"/>
          </a:xfrm>
          <a:prstGeom prst="rect">
            <a:avLst/>
          </a:prstGeom>
          <a:noFill/>
        </p:spPr>
        <p:txBody>
          <a:bodyPr wrap="square">
            <a:spAutoFit/>
          </a:bodyPr>
          <a:lstStyle/>
          <a:p>
            <a:pPr>
              <a:spcAft>
                <a:spcPts val="800"/>
              </a:spcAft>
              <a:defRPr sz="1600" b="1">
                <a:solidFill>
                  <a:srgbClr val="38BDF8"/>
                </a:solidFill>
                <a:latin typeface="Segoe UI"/>
              </a:defRPr>
            </a:pPr>
            <a:r>
              <a:t>Live Demonstration Workflow</a:t>
            </a:r>
          </a:p>
          <a:p>
            <a:pPr>
              <a:spcAft>
                <a:spcPts val="800"/>
              </a:spcAft>
            </a:pPr>
            <a:r>
              <a:rPr sz="1100" b="1">
                <a:solidFill>
                  <a:srgbClr val="F8FAFC"/>
                </a:solidFill>
                <a:latin typeface="Segoe UI"/>
              </a:rPr>
              <a:t>•  Step 1: Course Onboarding: </a:t>
            </a:r>
            <a:r>
              <a:rPr sz="1100" b="0">
                <a:solidFill>
                  <a:srgbClr val="E2E8F0"/>
                </a:solidFill>
                <a:latin typeface="Segoe UI"/>
              </a:rPr>
              <a:t>Upload syllabus materials (PDF / PPTX / Video) or select sample Operating Systems course.</a:t>
            </a:r>
          </a:p>
          <a:p>
            <a:pPr>
              <a:spcAft>
                <a:spcPts val="800"/>
              </a:spcAft>
            </a:pPr>
            <a:r>
              <a:rPr sz="1100" b="1">
                <a:solidFill>
                  <a:srgbClr val="F8FAFC"/>
                </a:solidFill>
                <a:latin typeface="Segoe UI"/>
              </a:rPr>
              <a:t>•  Step 2: Quick Diagnostic Baseline: </a:t>
            </a:r>
            <a:r>
              <a:rPr sz="1100" b="0">
                <a:solidFill>
                  <a:srgbClr val="E2E8F0"/>
                </a:solidFill>
                <a:latin typeface="Segoe UI"/>
              </a:rPr>
              <a:t>Demonstrate cold-start calibration to establish baseline BKT mastery in under 2 minutes.</a:t>
            </a:r>
          </a:p>
          <a:p>
            <a:pPr>
              <a:spcAft>
                <a:spcPts val="800"/>
              </a:spcAft>
            </a:pPr>
            <a:r>
              <a:rPr sz="1100" b="1">
                <a:solidFill>
                  <a:srgbClr val="F8FAFC"/>
                </a:solidFill>
                <a:latin typeface="Segoe UI"/>
              </a:rPr>
              <a:t>•  Step 3: Grounded Tutor Chat: </a:t>
            </a:r>
            <a:r>
              <a:rPr sz="1100" b="0">
                <a:solidFill>
                  <a:srgbClr val="E2E8F0"/>
                </a:solidFill>
                <a:latin typeface="Segoe UI"/>
              </a:rPr>
              <a:t>Ask technical questions with KaTeX math rendering and click citation badges to open the Source Viewer Drawer.</a:t>
            </a:r>
          </a:p>
          <a:p>
            <a:pPr>
              <a:spcAft>
                <a:spcPts val="800"/>
              </a:spcAft>
            </a:pPr>
            <a:r>
              <a:rPr sz="1100" b="1">
                <a:solidFill>
                  <a:srgbClr val="F8FAFC"/>
                </a:solidFill>
                <a:latin typeface="Segoe UI"/>
              </a:rPr>
              <a:t>•  Step 4: Self-Verifying Adaptive Assessment: </a:t>
            </a:r>
            <a:r>
              <a:rPr sz="1100" b="0">
                <a:solidFill>
                  <a:srgbClr val="E2E8F0"/>
                </a:solidFill>
                <a:latin typeface="Segoe UI"/>
              </a:rPr>
              <a:t>Take an adaptive quiz with real-time BKT updates and Scikit-Learn readiness recalculation.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Summary, Internship Learnings &amp; Next Steps</a:t>
            </a:r>
          </a:p>
        </p:txBody>
      </p:sp>
      <p:sp>
        <p:nvSpPr>
          <p:cNvPr id="3" name="Rounded Rectangle 2"/>
          <p:cNvSpPr/>
          <p:nvPr/>
        </p:nvSpPr>
        <p:spPr>
          <a:xfrm>
            <a:off x="7315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663440" cy="4297680"/>
          </a:xfrm>
          <a:prstGeom prst="rect">
            <a:avLst/>
          </a:prstGeom>
          <a:noFill/>
        </p:spPr>
        <p:txBody>
          <a:bodyPr wrap="square">
            <a:spAutoFit/>
          </a:bodyPr>
          <a:lstStyle/>
          <a:p>
            <a:pPr>
              <a:spcAft>
                <a:spcPts val="1200"/>
              </a:spcAft>
              <a:defRPr sz="1800" b="1">
                <a:solidFill>
                  <a:srgbClr val="38BDF8"/>
                </a:solidFill>
                <a:latin typeface="Segoe UI"/>
              </a:defRPr>
            </a:pPr>
            <a:r>
              <a:t>Key Internship Achievements</a:t>
            </a:r>
          </a:p>
          <a:p>
            <a:pPr>
              <a:spcAft>
                <a:spcPts val="800"/>
              </a:spcAft>
            </a:pPr>
            <a:r>
              <a:rPr sz="1200" b="1">
                <a:solidFill>
                  <a:srgbClr val="F8FAFC"/>
                </a:solidFill>
                <a:latin typeface="Segoe UI"/>
              </a:rPr>
              <a:t>•  Cognitive Over Generative: </a:t>
            </a:r>
            <a:r>
              <a:rPr sz="1200" b="0">
                <a:solidFill>
                  <a:srgbClr val="E2E8F0"/>
                </a:solidFill>
                <a:latin typeface="Segoe UI"/>
              </a:rPr>
              <a:t>Proved that true educational AI requires mathematical learner modeling (BKT + ML), not just raw LLM prompts.</a:t>
            </a:r>
          </a:p>
          <a:p>
            <a:pPr>
              <a:spcAft>
                <a:spcPts val="800"/>
              </a:spcAft>
            </a:pPr>
            <a:r>
              <a:rPr sz="1200" b="1">
                <a:solidFill>
                  <a:srgbClr val="F8FAFC"/>
                </a:solidFill>
                <a:latin typeface="Segoe UI"/>
              </a:rPr>
              <a:t>•  Full-Stack System Engineering: </a:t>
            </a:r>
            <a:r>
              <a:rPr sz="1200" b="0">
                <a:solidFill>
                  <a:srgbClr val="E2E8F0"/>
                </a:solidFill>
                <a:latin typeface="Segoe UI"/>
              </a:rPr>
              <a:t>Built a production-grade decoupled architecture spanning React 19, FastAPI, ChromaDB, and SQLite WAL.</a:t>
            </a:r>
          </a:p>
          <a:p>
            <a:pPr>
              <a:spcAft>
                <a:spcPts val="800"/>
              </a:spcAft>
            </a:pPr>
            <a:r>
              <a:rPr sz="1200" b="1">
                <a:solidFill>
                  <a:srgbClr val="F8FAFC"/>
                </a:solidFill>
                <a:latin typeface="Segoe UI"/>
              </a:rPr>
              <a:t>•  Local GPU Deployment: </a:t>
            </a:r>
            <a:r>
              <a:rPr sz="1200" b="0">
                <a:solidFill>
                  <a:srgbClr val="E2E8F0"/>
                </a:solidFill>
                <a:latin typeface="Segoe UI"/>
              </a:rPr>
              <a:t>Integrated local Ollama 7B LLM running directly on hardware GPU with zero cloud token dependency.</a:t>
            </a:r>
          </a:p>
          <a:p>
            <a:pPr>
              <a:spcAft>
                <a:spcPts val="800"/>
              </a:spcAft>
            </a:pPr>
            <a:r>
              <a:rPr sz="1200" b="1">
                <a:solidFill>
                  <a:srgbClr val="F8FAFC"/>
                </a:solidFill>
                <a:latin typeface="Segoe UI"/>
              </a:rPr>
              <a:t>•  Deterministic Verification: </a:t>
            </a:r>
            <a:r>
              <a:rPr sz="1200" b="0">
                <a:solidFill>
                  <a:srgbClr val="E2E8F0"/>
                </a:solidFill>
                <a:latin typeface="Segoe UI"/>
              </a:rPr>
              <a:t>Guaranteed academic rigor using SymPy math verifier and cosine novelty detection.</a:t>
            </a:r>
          </a:p>
        </p:txBody>
      </p:sp>
      <p:sp>
        <p:nvSpPr>
          <p:cNvPr id="5" name="Rounded Rectangle 4"/>
          <p:cNvSpPr/>
          <p:nvPr/>
        </p:nvSpPr>
        <p:spPr>
          <a:xfrm>
            <a:off x="62179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737360"/>
            <a:ext cx="4663440" cy="4297680"/>
          </a:xfrm>
          <a:prstGeom prst="rect">
            <a:avLst/>
          </a:prstGeom>
          <a:noFill/>
        </p:spPr>
        <p:txBody>
          <a:bodyPr wrap="square">
            <a:spAutoFit/>
          </a:bodyPr>
          <a:lstStyle/>
          <a:p>
            <a:pPr>
              <a:spcAft>
                <a:spcPts val="1200"/>
              </a:spcAft>
              <a:defRPr sz="1800" b="1">
                <a:solidFill>
                  <a:srgbClr val="22C55E"/>
                </a:solidFill>
                <a:latin typeface="Segoe UI"/>
              </a:defRPr>
            </a:pPr>
            <a:r>
              <a:t>Future Extensions &amp; Thank You</a:t>
            </a:r>
          </a:p>
          <a:p>
            <a:pPr>
              <a:spcAft>
                <a:spcPts val="800"/>
              </a:spcAft>
            </a:pPr>
            <a:r>
              <a:rPr sz="1200" b="1">
                <a:solidFill>
                  <a:srgbClr val="F8FAFC"/>
                </a:solidFill>
                <a:latin typeface="Segoe UI"/>
              </a:rPr>
              <a:t>•  Multimodal Speech Interaction: </a:t>
            </a:r>
            <a:r>
              <a:rPr sz="1200" b="0">
                <a:solidFill>
                  <a:srgbClr val="E2E8F0"/>
                </a:solidFill>
                <a:latin typeface="Segoe UI"/>
              </a:rPr>
              <a:t>Add real-time bidirectional voice tutoring using WebRTC and local Whisper + VITS.</a:t>
            </a:r>
          </a:p>
          <a:p>
            <a:pPr>
              <a:spcAft>
                <a:spcPts val="800"/>
              </a:spcAft>
            </a:pPr>
            <a:r>
              <a:rPr sz="1200" b="1">
                <a:solidFill>
                  <a:srgbClr val="F8FAFC"/>
                </a:solidFill>
                <a:latin typeface="Segoe UI"/>
              </a:rPr>
              <a:t>•  Collaborative Peer Study Rooms: </a:t>
            </a:r>
            <a:r>
              <a:rPr sz="1200" b="0">
                <a:solidFill>
                  <a:srgbClr val="E2E8F0"/>
                </a:solidFill>
                <a:latin typeface="Segoe UI"/>
              </a:rPr>
              <a:t>Extend cognitive tracing to multi-student peer problem-solving sessions.</a:t>
            </a:r>
          </a:p>
          <a:p>
            <a:pPr>
              <a:spcAft>
                <a:spcPts val="800"/>
              </a:spcAft>
            </a:pPr>
            <a:r>
              <a:rPr sz="1200" b="1">
                <a:solidFill>
                  <a:srgbClr val="F8FAFC"/>
                </a:solidFill>
                <a:latin typeface="Segoe UI"/>
              </a:rPr>
              <a:t>•  LMS Canvas / Moodle Integration: </a:t>
            </a:r>
            <a:r>
              <a:rPr sz="1200" b="0">
                <a:solidFill>
                  <a:srgbClr val="E2E8F0"/>
                </a:solidFill>
                <a:latin typeface="Segoe UI"/>
              </a:rPr>
              <a:t>Export student mastery distributions and readiness states directly into university gradebooks.</a:t>
            </a:r>
          </a:p>
          <a:p>
            <a:pPr>
              <a:spcBef>
                <a:spcPts val="2000"/>
              </a:spcBef>
              <a:defRPr sz="1600" b="1">
                <a:solidFill>
                  <a:srgbClr val="F8FAFC"/>
                </a:solidFill>
                <a:latin typeface="Segoe UI"/>
              </a:defRPr>
            </a:pPr>
            <a:r>
              <a:t>Thank You, Sir!</a:t>
            </a:r>
            <a:br/>
            <a:r>
              <a:t>Open for Questions &amp;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